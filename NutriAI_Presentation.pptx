
<file path=[Content_Types].xml><?xml version="1.0" encoding="utf-8"?>
<Types xmlns="http://schemas.openxmlformats.org/package/2006/content-types">
  <Default Extension="xml" ContentType="application/vnd.openxmlformats-officedocument.presentationml.presentation.main+xml"/>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notesMasters/theme/theme2.xml" ContentType="application/vnd.openxmlformats-officedocument.them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officeDocument" Target="/ppt/presentation.xml" Id="Re422fb84eb87465a" /><Relationship Type="http://schemas.openxmlformats.org/package/2006/relationships/metadata/core-properties" Target="/docProps/core.xml" Id="R8c2dc36c79fb4eab" /><Relationship Type="http://schemas.openxmlformats.org/officeDocument/2006/relationships/extended-properties" Target="/docProps/app.xml" Id="Rcfd3b8977eba4caf" /><Relationship Type="http://schemas.openxmlformats.org/officeDocument/2006/relationships/custom-properties" Target="/docProps/custom.xml" Id="Rbe16ee76c4d04b4b" /></Relationships>
</file>

<file path=ppt/presentation.xml><?xml version="1.0" encoding="utf-8"?>
<p:presentation xmlns:r="http://schemas.openxmlformats.org/officeDocument/2006/relationships" xmlns:p="http://schemas.openxmlformats.org/presentationml/2006/main">
  <p:sldMasterIdLst>
    <p:sldMasterId xmlns:r="http://schemas.openxmlformats.org/officeDocument/2006/relationships" id="2147483648" r:id="rId1"/>
  </p:sldMasterIdLst>
  <p:notesMasterIdLst>
    <p:notesMasterId r:id="R2ddf0b58e0c441b9"/>
  </p:notesMasterIdLst>
  <p:sldIdLst>
    <p:sldId id="256" r:id="Rd4c411822b814062"/>
    <p:sldId id="257" r:id="R16f22f17e3594505"/>
    <p:sldId id="258" r:id="R6215b80e4d7c43f7"/>
    <p:sldId id="259" r:id="R144e47e9d99c4d8e"/>
    <p:sldId id="260" r:id="R19c89acc53e14036"/>
    <p:sldId id="261" r:id="Rf6b60aa5f64e48dd"/>
    <p:sldId id="262" r:id="R907f4d3b12514d05"/>
    <p:sldId id="263" r:id="R1f0ceccbf6324636"/>
    <p:sldId id="264" r:id="Rded534221e844909"/>
    <p:sldId id="265" r:id="R9106e51656c64fe1"/>
    <p:sldId id="266" r:id="R2e56dd82a04046e5"/>
    <p:sldId id="267" r:id="Re325cca5682443a6"/>
    <p:sldId id="268" r:id="Rad547d9620244cb1"/>
    <p:sldId id="269" r:id="Rd4a73f44cca24a82"/>
    <p:sldId id="270" r:id="Rc4367f9658d64f17"/>
    <p:sldId id="271" r:id="Rd3ac7ab1e03b495b"/>
    <p:sldId id="272" r:id="R428be76d9ea2402d"/>
    <p:sldId id="273" r:id="R0e53dea2d7d14073"/>
  </p:sldIdLst>
  <p:sldSz cx="12192000" cy="6858000"/>
  <p:notesSz cx="6858000" cy="9144000"/>
</p:presentation>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theme/theme1.xml" Id="rId2" /><Relationship Type="http://schemas.openxmlformats.org/officeDocument/2006/relationships/slide" Target="/ppt/slides/slide1.xml" Id="Rd4c411822b814062" /><Relationship Type="http://schemas.openxmlformats.org/officeDocument/2006/relationships/notesMaster" Target="/ppt/notesMasters/notesMaster1.xml" Id="R2ddf0b58e0c441b9" /><Relationship Type="http://schemas.openxmlformats.org/officeDocument/2006/relationships/slide" Target="/ppt/slides/slide2.xml" Id="R16f22f17e3594505" /><Relationship Type="http://schemas.openxmlformats.org/officeDocument/2006/relationships/slide" Target="/ppt/slides/slide3.xml" Id="R6215b80e4d7c43f7" /><Relationship Type="http://schemas.openxmlformats.org/officeDocument/2006/relationships/slide" Target="/ppt/slides/slide4.xml" Id="R144e47e9d99c4d8e" /><Relationship Type="http://schemas.openxmlformats.org/officeDocument/2006/relationships/slide" Target="/ppt/slides/slide5.xml" Id="R19c89acc53e14036" /><Relationship Type="http://schemas.openxmlformats.org/officeDocument/2006/relationships/slide" Target="/ppt/slides/slide6.xml" Id="Rf6b60aa5f64e48dd" /><Relationship Type="http://schemas.openxmlformats.org/officeDocument/2006/relationships/slide" Target="/ppt/slides/slide7.xml" Id="R907f4d3b12514d05" /><Relationship Type="http://schemas.openxmlformats.org/officeDocument/2006/relationships/slide" Target="/ppt/slides/slide8.xml" Id="R1f0ceccbf6324636" /><Relationship Type="http://schemas.openxmlformats.org/officeDocument/2006/relationships/slide" Target="/ppt/slides/slide9.xml" Id="Rded534221e844909" /><Relationship Type="http://schemas.openxmlformats.org/officeDocument/2006/relationships/slide" Target="/ppt/slides/slide10.xml" Id="R9106e51656c64fe1" /><Relationship Type="http://schemas.openxmlformats.org/officeDocument/2006/relationships/slide" Target="/ppt/slides/slide11.xml" Id="R2e56dd82a04046e5" /><Relationship Type="http://schemas.openxmlformats.org/officeDocument/2006/relationships/slide" Target="/ppt/slides/slide12.xml" Id="Re325cca5682443a6" /><Relationship Type="http://schemas.openxmlformats.org/officeDocument/2006/relationships/slide" Target="/ppt/slides/slide13.xml" Id="Rad547d9620244cb1" /><Relationship Type="http://schemas.openxmlformats.org/officeDocument/2006/relationships/slide" Target="/ppt/slides/slide14.xml" Id="Rd4a73f44cca24a82" /><Relationship Type="http://schemas.openxmlformats.org/officeDocument/2006/relationships/slide" Target="/ppt/slides/slide15.xml" Id="Rc4367f9658d64f17" /><Relationship Type="http://schemas.openxmlformats.org/officeDocument/2006/relationships/slide" Target="/ppt/slides/slide16.xml" Id="Rd3ac7ab1e03b495b" /><Relationship Type="http://schemas.openxmlformats.org/officeDocument/2006/relationships/slide" Target="/ppt/slides/slide17.xml" Id="R428be76d9ea2402d" /><Relationship Type="http://schemas.openxmlformats.org/officeDocument/2006/relationships/slide" Target="/ppt/slides/slide18.xml" Id="R0e53dea2d7d1407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d9a57104ff3483a"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fld id="{B1E4B0A2-5C8E-4E5F-9C1D-2F3A4B5C6D71}" type="datetimeFigureOut">
              <a:rPr lang="en-US"/>
            </a:fld>
            <a:endParaRPr lang="en-US"/>
          </a:p>
        </p:txBody>
      </p:sp>
      <p:sp>
        <p:nvSpPr>
          <p:cNvPr id="4" name="Slide Image Placeholder 3"/>
          <p:cNvSpPr>
            <a:spLocks noGrp="1" noRot="1" noChangeAspect="1"/>
          </p:cNvSpPr>
          <p:nvPr>
            <p:ph type="sldImg" idx="2"/>
          </p:nvPr>
        </p:nvSpPr>
        <p:spPr>
          <a:xfrm>
            <a:off x="1143000" y="685800"/>
            <a:ext cx="4572000" cy="2571750"/>
          </a:xfrm>
          <a:prstGeom prst="rect">
            <a:avLst/>
          </a:prstGeom>
          <a:noFill/>
          <a:ln w="12700">
            <a:solidFill>
              <a:prstClr val="black"/>
            </a:solidFill>
          </a:ln>
        </p:spPr>
        <p:txBody>
          <a:bodyPr/>
          <a:lstStyle/>
          <a:p>
            <a:endParaRPr lang="en-US"/>
          </a:p>
        </p:txBody>
      </p:sp>
      <p:sp>
        <p:nvSpPr>
          <p:cNvPr id="5" name="Notes Placeholder 4"/>
          <p:cNvSpPr>
            <a:spLocks noGrp="1"/>
          </p:cNvSpPr>
          <p:nvPr>
            <p:ph type="body" sz="quarter" idx="3"/>
          </p:nvPr>
        </p:nvSpPr>
        <p:spPr>
          <a:xfrm>
            <a:off x="685800" y="3429000"/>
            <a:ext cx="5486400" cy="4114800"/>
          </a:xfrm>
          <a:prstGeom prst="rect">
            <a:avLst/>
          </a:prstGeom>
        </p:spPr>
        <p:txBody>
          <a:bodyPr vert="horz" lIns="91440" tIns="45720" rIns="91440" bIns="45720"/>
          <a:lstStyle/>
          <a:p>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a:lstStyle>
            <a:lvl1pPr algn="r">
              <a:defRPr sz="1200"/>
            </a:lvl1pPr>
          </a:lstStyle>
          <a:p>
            <a:fld id="{B1E4B0A2-5C8E-4E5F-9C1D-2F3A4B5C6D72}"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notesMaster" Target="/ppt/notesMasters/notesMaster1.xml" Id="R08db30e1e5c247e3" /><Relationship Type="http://schemas.openxmlformats.org/officeDocument/2006/relationships/slide" Target="/ppt/slides/slide1.xml" Id="Rfac1e37727ad4b80" /></Relationships>
</file>

<file path=ppt/notesSlides/_rels/notesSlide2.xml.rels>&#65279;<?xml version="1.0" encoding="utf-8"?><Relationships xmlns="http://schemas.openxmlformats.org/package/2006/relationships"><Relationship Type="http://schemas.openxmlformats.org/officeDocument/2006/relationships/notesMaster" Target="/ppt/notesMasters/notesMaster1.xml" Id="R327d591d9b3a4893" /><Relationship Type="http://schemas.openxmlformats.org/officeDocument/2006/relationships/slide" Target="/ppt/slides/slide2.xml" Id="R91cef68ed29745c9" /></Relationships>
</file>

<file path=ppt/notesSlides/_rels/notesSlide3.xml.rels>&#65279;<?xml version="1.0" encoding="utf-8"?><Relationships xmlns="http://schemas.openxmlformats.org/package/2006/relationships"><Relationship Type="http://schemas.openxmlformats.org/officeDocument/2006/relationships/notesMaster" Target="/ppt/notesMasters/notesMaster1.xml" Id="R4a46bfc657f64178" /><Relationship Type="http://schemas.openxmlformats.org/officeDocument/2006/relationships/slide" Target="/ppt/slides/slide3.xml" Id="Raec48c7da2764f84" /></Relationships>
</file>

<file path=ppt/notesSlides/_rels/notesSlide4.xml.rels>&#65279;<?xml version="1.0" encoding="utf-8"?><Relationships xmlns="http://schemas.openxmlformats.org/package/2006/relationships"><Relationship Type="http://schemas.openxmlformats.org/officeDocument/2006/relationships/notesMaster" Target="/ppt/notesMasters/notesMaster1.xml" Id="R45f0989c166e4622" /><Relationship Type="http://schemas.openxmlformats.org/officeDocument/2006/relationships/slide" Target="/ppt/slides/slide4.xml" Id="R92f8e6b7b2d847fa" /></Relationships>
</file>

<file path=ppt/notesSlides/_rels/notesSlide5.xml.rels>&#65279;<?xml version="1.0" encoding="utf-8"?><Relationships xmlns="http://schemas.openxmlformats.org/package/2006/relationships"><Relationship Type="http://schemas.openxmlformats.org/officeDocument/2006/relationships/notesMaster" Target="/ppt/notesMasters/notesMaster1.xml" Id="Rfcecb3f3ab5e476c" /><Relationship Type="http://schemas.openxmlformats.org/officeDocument/2006/relationships/slide" Target="/ppt/slides/slide5.xml" Id="Rfb5ffba55cb04e5b" /></Relationships>
</file>

<file path=ppt/notesSlides/_rels/notesSlide6.xml.rels>&#65279;<?xml version="1.0" encoding="utf-8"?><Relationships xmlns="http://schemas.openxmlformats.org/package/2006/relationships"><Relationship Type="http://schemas.openxmlformats.org/officeDocument/2006/relationships/notesMaster" Target="/ppt/notesMasters/notesMaster1.xml" Id="R746214bf9f4546ff" /><Relationship Type="http://schemas.openxmlformats.org/officeDocument/2006/relationships/slide" Target="/ppt/slides/slide6.xml" Id="Rb293e07330ce42ca" /></Relationships>
</file>

<file path=ppt/notesSlides/_rels/notesSlide7.xml.rels>&#65279;<?xml version="1.0" encoding="utf-8"?><Relationships xmlns="http://schemas.openxmlformats.org/package/2006/relationships"><Relationship Type="http://schemas.openxmlformats.org/officeDocument/2006/relationships/notesMaster" Target="/ppt/notesMasters/notesMaster1.xml" Id="R765eb7a31ff14800" /><Relationship Type="http://schemas.openxmlformats.org/officeDocument/2006/relationships/slide" Target="/ppt/slides/slide7.xml" Id="R5a4ae20e1bf1465c" /></Relationships>
</file>

<file path=ppt/notesSlides/_rels/notesSlide8.xml.rels>&#65279;<?xml version="1.0" encoding="utf-8"?><Relationships xmlns="http://schemas.openxmlformats.org/package/2006/relationships"><Relationship Type="http://schemas.openxmlformats.org/officeDocument/2006/relationships/notesMaster" Target="/ppt/notesMasters/notesMaster1.xml" Id="R6650e07a4de44c8a" /><Relationship Type="http://schemas.openxmlformats.org/officeDocument/2006/relationships/slide" Target="/ppt/slides/slide8.xml" Id="Rd57772208acc4aba" /></Relationships>
</file>

<file path=ppt/notesSlides/_rels/notesSlide9.xml.rels>&#65279;<?xml version="1.0" encoding="utf-8"?><Relationships xmlns="http://schemas.openxmlformats.org/package/2006/relationships"><Relationship Type="http://schemas.openxmlformats.org/officeDocument/2006/relationships/notesMaster" Target="/ppt/notesMasters/notesMaster1.xml" Id="Rc08e41bc853940cc" /><Relationship Type="http://schemas.openxmlformats.org/officeDocument/2006/relationships/slide" Target="/ppt/slides/slide9.xml" Id="Rffefb2a697e34d51" /></Relationships>
</file>

<file path=ppt/notesSlides/_rels/notesSlide10.xml.rels>&#65279;<?xml version="1.0" encoding="utf-8"?><Relationships xmlns="http://schemas.openxmlformats.org/package/2006/relationships"><Relationship Type="http://schemas.openxmlformats.org/officeDocument/2006/relationships/notesMaster" Target="/ppt/notesMasters/notesMaster1.xml" Id="R2d14dbdbf5d1401e" /><Relationship Type="http://schemas.openxmlformats.org/officeDocument/2006/relationships/slide" Target="/ppt/slides/slide10.xml" Id="R9b78716a1b344b76" /></Relationships>
</file>

<file path=ppt/notesSlides/_rels/notesSlide11.xml.rels>&#65279;<?xml version="1.0" encoding="utf-8"?><Relationships xmlns="http://schemas.openxmlformats.org/package/2006/relationships"><Relationship Type="http://schemas.openxmlformats.org/officeDocument/2006/relationships/notesMaster" Target="/ppt/notesMasters/notesMaster1.xml" Id="R53a7ec11cf164f6b" /><Relationship Type="http://schemas.openxmlformats.org/officeDocument/2006/relationships/slide" Target="/ppt/slides/slide11.xml" Id="Rb973cd2417a64d9c" /></Relationships>
</file>

<file path=ppt/notesSlides/_rels/notesSlide12.xml.rels>&#65279;<?xml version="1.0" encoding="utf-8"?><Relationships xmlns="http://schemas.openxmlformats.org/package/2006/relationships"><Relationship Type="http://schemas.openxmlformats.org/officeDocument/2006/relationships/notesMaster" Target="/ppt/notesMasters/notesMaster1.xml" Id="Rcddc345f692e4e2a" /><Relationship Type="http://schemas.openxmlformats.org/officeDocument/2006/relationships/slide" Target="/ppt/slides/slide12.xml" Id="Rbbd3a9479d794b22" /></Relationships>
</file>

<file path=ppt/notesSlides/_rels/notesSlide13.xml.rels>&#65279;<?xml version="1.0" encoding="utf-8"?><Relationships xmlns="http://schemas.openxmlformats.org/package/2006/relationships"><Relationship Type="http://schemas.openxmlformats.org/officeDocument/2006/relationships/notesMaster" Target="/ppt/notesMasters/notesMaster1.xml" Id="R2e2313b71d6a49ce" /><Relationship Type="http://schemas.openxmlformats.org/officeDocument/2006/relationships/slide" Target="/ppt/slides/slide13.xml" Id="R048c4af7f12e4111" /></Relationships>
</file>

<file path=ppt/notesSlides/_rels/notesSlide14.xml.rels>&#65279;<?xml version="1.0" encoding="utf-8"?><Relationships xmlns="http://schemas.openxmlformats.org/package/2006/relationships"><Relationship Type="http://schemas.openxmlformats.org/officeDocument/2006/relationships/notesMaster" Target="/ppt/notesMasters/notesMaster1.xml" Id="R027cd522a64f42da" /><Relationship Type="http://schemas.openxmlformats.org/officeDocument/2006/relationships/slide" Target="/ppt/slides/slide14.xml" Id="R5e8199767e334baa" /></Relationships>
</file>

<file path=ppt/notesSlides/_rels/notesSlide15.xml.rels>&#65279;<?xml version="1.0" encoding="utf-8"?><Relationships xmlns="http://schemas.openxmlformats.org/package/2006/relationships"><Relationship Type="http://schemas.openxmlformats.org/officeDocument/2006/relationships/notesMaster" Target="/ppt/notesMasters/notesMaster1.xml" Id="R777400f4f81b4b54" /><Relationship Type="http://schemas.openxmlformats.org/officeDocument/2006/relationships/slide" Target="/ppt/slides/slide15.xml" Id="R6873fa4e2f864794" /></Relationships>
</file>

<file path=ppt/notesSlides/_rels/notesSlide16.xml.rels>&#65279;<?xml version="1.0" encoding="utf-8"?><Relationships xmlns="http://schemas.openxmlformats.org/package/2006/relationships"><Relationship Type="http://schemas.openxmlformats.org/officeDocument/2006/relationships/notesMaster" Target="/ppt/notesMasters/notesMaster1.xml" Id="Ra6f35113bc2f4040" /><Relationship Type="http://schemas.openxmlformats.org/officeDocument/2006/relationships/slide" Target="/ppt/slides/slide16.xml" Id="Rce35985f0bf148cf" /></Relationships>
</file>

<file path=ppt/notesSlides/_rels/notesSlide17.xml.rels>&#65279;<?xml version="1.0" encoding="utf-8"?><Relationships xmlns="http://schemas.openxmlformats.org/package/2006/relationships"><Relationship Type="http://schemas.openxmlformats.org/officeDocument/2006/relationships/notesMaster" Target="/ppt/notesMasters/notesMaster1.xml" Id="R93dd5a0a7fd1453e" /><Relationship Type="http://schemas.openxmlformats.org/officeDocument/2006/relationships/slide" Target="/ppt/slides/slide17.xml" Id="R46755b3d9dcc41fb" /></Relationships>
</file>

<file path=ppt/notesSlides/_rels/notesSlide18.xml.rels>&#65279;<?xml version="1.0" encoding="utf-8"?><Relationships xmlns="http://schemas.openxmlformats.org/package/2006/relationships"><Relationship Type="http://schemas.openxmlformats.org/officeDocument/2006/relationships/notesMaster" Target="/ppt/notesMasters/notesMaster1.xml" Id="R1ea15da8bda44a6e" /><Relationship Type="http://schemas.openxmlformats.org/officeDocument/2006/relationships/slide" Target="/ppt/slides/slide18.xml" Id="Ra4ee6d4353014d9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Welcome slide. NutriAI is a full-stack Agentic AI web application that generates personalised 7-day nutrition plans using IBM Granite LLM on watsonx.ai. The system implements the complete Agentic AI SDLC with guardrails, ethical AI, and HAM tone communication.</a:t>
            </a:r>
          </a:p>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presentation covers all aspects of the NutriAI project including architecture, Agentic SDLC phases, live output from the sample nutrition plan markdown file, UI features, and the GitHub deployment.</a:t>
            </a:r>
          </a:p>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NutriAI solves the gap between generic dietary advice and personalised, medically-aware nutrition guidance. It uses IBM Granite LLM to generate comprehensive 7-day meal plans tailored to each user's age, gender, medical history, diet preference, location, and health goals.</a:t>
            </a:r>
          </a:p>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architecture is a clean 4-layer stack: IBM Granite LLM on watsonx.ai, a Flask REST API backend, a Python agentic orchestration layer with guardrails and prompt engineering, and a vanilla JavaScript single-page frontend. No frontend framework is needed.</a:t>
            </a:r>
          </a:p>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7-phase Agentic AI SDLC maps directly to code modules. Phase 1 ethics review sets guardrails. Phase 2 validates input. Phase 3 constructs the LLM prompt. Phase 4 calls NutritionTools for BMI/TDEE. Phase 5 runs LLM inference via IBM watsonx.ai. Phase 6 scans output for safety. Phase 7 saves the plan and returns structured JSON.</a:t>
            </a:r>
          </a:p>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NutriAI has 9 major features. IBM Granite LLM is the core inference engine. Plans are personalised to each user's complete profile. Medical conditions are handled with specific dietary guidelines. The Q&amp;A chat maintains conversation context. BMI and TDEE are calculated deterministically without LLM. Plans are auto-saved as Markdown files.</a:t>
            </a:r>
          </a:p>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guardrails system uses regex pattern matching on both user input and LLM output. 12 harmful keyword patterns are compiled at startup. The HAM tone is injected into every prompt via ham_tone_prefix(). A mandatory medical disclaimer is appended to every generated plan. The system validates all user profiles before processing.</a:t>
            </a:r>
          </a:p>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shows the actual output from the sample nutrition plan Markdown file. The plan was generated for a female user, 32 years old, vegetarian, moderate activity, targeting weight management. The daily caloric target of 1800 kcal is split 45/30/25 across carbs, protein, and fats.</a:t>
            </a:r>
          </a:p>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7-day meal plan from the sample_nutrition_plan_demo.md file. All meals are vegetarian. Daily calories range from 1550-1680 kcal, below the 1800 kcal target to allow for variance. Each day includes 5 meals: breakfast, mid-morning snack, lunch, evening snack, and dinner.</a:t>
            </a:r>
          </a:p>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This slide shows the condition-specific dietary notes from the sample nutrition plan. The system automatically adapts guidance based on medical history. The micronutrient table uses ICMR/WHO RDA values. Note that women's iron RDA (21mg/day) is higher than men's (17mg/day) due to menstrual losses.</a:t>
            </a:r>
          </a:p>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BMI and TDEE calculations are performed deterministically by the NutritionTools class without any LLM involvement. BMI uses the standard formula weight/(height/100)^2. TDEE uses the Mifflin-St Jeor equation with activity multipliers from sedentary (1.2) to very active (1.9). These values are passed into the LLM prompt as context.</a:t>
            </a:r>
          </a:p>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7 API endpoints are RESTful JSON. The generate-plan endpoint is the main endpoint that triggers the full 7-phase Agentic AI pipeline. The health endpoint confirmed status 200 in live testing. The BMI endpoint returned 22.0 Normal weight for 60kg/165cm. Plans are saved with timestamped filenames matching the pattern nutrition_plan_&lt;name&gt;_&lt;date&gt;_&lt;time&gt;.md.</a:t>
            </a:r>
          </a:p>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All 7 REST API endpoints confirmed working in live testing. /api/health returned 200 OK. /api/generate-plan returned full 7-day plan with BMI 22.0 Normal weight. /api/bmi returned correct calculation. /api/query returned Q&amp;A answer successfully.</a:t>
            </a:r>
          </a:p>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Ask NutriAI panel features quick-question buttons and a full chat interface. The Q&amp;A endpoint maintains conversation history for the last 10 turns. The Saved Plans panel lists all generated .md files stored in the /plans directory. Live testing confirmed the health and query endpoints return correct JSON responses.</a:t>
            </a:r>
          </a:p>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structure follows a clean separation of concerns. app.py handles HTTP routing. The agent/ package handles all AI logic. The static/ folder is a self-contained SPA. The plans/ directory stores all generated nutrition plans as Markdown files with timestamped names.</a:t>
            </a:r>
          </a:p>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repository was deployed using Portable Git 2.47.1 since Git was not pre-installed. Two commits were pushed. The first commit added all 15 source files. The second fixed a Windows encoding bug in the startup banner. The venv/ folder is excluded by .gitignore and is not pushed to GitHub.</a:t>
            </a:r>
          </a:p>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The project was successfully installed and run. Python 3.14.7 is installed. All 5 dependencies installed cleanly. Flask server started on 0.0.0.0:5000. All endpoints tested and confirmed working. The app works in Demo Mode without an IBM API key, making it easy to demonstrate and test without credentials.</a:t>
            </a:r>
          </a:p>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p:nvPr>
            <p:ph type="sldImg" idx="0"/>
          </p:nvPr>
        </p:nvSpPr>
        <p:spPr/>
        <p:txBody>
          <a:bodyPr xmlns:a="http://schemas.openxmlformats.org/drawingml/2006/main"/>
          <a:lstStyle xmlns:a="http://schemas.openxmlformats.org/drawingml/2006/main"/>
          <a:p xmlns:a="http://schemas.openxmlformats.org/drawingml/2006/main"/>
        </p:txBody>
      </p:sp>
      <p:sp>
        <p:nvSpPr>
          <p:cNvPr id="3" name="Notes Placeholder 2"/>
          <p:cNvSpPr/>
          <p:nvPr>
            <p:ph type="body" idx="1"/>
          </p:nvPr>
        </p:nvSpPr>
        <p:spPr/>
        <p:txBody>
          <a:bodyPr xmlns:a="http://schemas.openxmlformats.org/drawingml/2006/main"/>
          <a:lstStyle xmlns:a="http://schemas.openxmlformats.org/drawingml/2006/main"/>
          <a:p xmlns:a="http://schemas.openxmlformats.org/drawingml/2006/main">
            <a:r>
              <a:rPr lang="en-US"/>
              <a:t>NutriAI demonstrates a complete Agentic AI application lifecycle from requirements and ethics review through deployment. The system is production-ready in terms of architecture and safety features. The main next step is connecting a live IBM watsonx.ai API key to enable real Granite LLM inference instead of the demo mock responses.</a:t>
            </a:r>
          </a:p>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a5c4264a0242f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c5941ea4a1490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61e2bd8bc246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721a52da56b45f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f09d58726b94190" /></Relationships>
</file>

<file path=ppt/slideLayouts/slideLayout1.xml><?xml version="1.0" encoding="utf-8"?>
<p:sldLayout xmlns:p="http://schemas.openxmlformats.org/presentationml/2006/main" type="blank">
  <p:cSld name="Blank">
    <p:spTree>
      <p:nvGrpSpPr>
        <p:cNvPr id="1" name=""/>
        <p:cNvGrpSpPr/>
        <p:nvPr/>
      </p:nvGrpSpPr>
      <p:grpSpPr/>
    </p:spTree>
  </p:cSld>
</p:sldLayout>
</file>

<file path=ppt/slideLayouts/slideLayout2.xml><?xml version="1.0" encoding="utf-8"?>
<p:sldLayout xmlns:p="http://schemas.openxmlformats.org/presentationml/2006/main" type="title">
  <p:cSld name="Title Slide">
    <p:spTree>
      <p:nvGrpSpPr>
        <p:cNvPr id="1" name=""/>
        <p:cNvGrpSpPr/>
        <p:nvPr/>
      </p:nvGrpSpPr>
      <p:grpSpPr/>
      <p:sp>
        <p:nvSpPr>
          <p:cNvPr id="2" name="Title"/>
          <p:cNvSpPr>
            <a:spLocks xmlns:a="http://schemas.openxmlformats.org/drawingml/2006/main" noGrp="1"/>
          </p:cNvSpPr>
          <p:nvPr>
            <p:ph type="ctrTitle"/>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endParaRPr lang="en-US"/>
          </a:p>
        </p:txBody>
      </p:sp>
      <p:sp>
        <p:nvSpPr>
          <p:cNvPr id="3" name="Subtitle"/>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3.xml><?xml version="1.0" encoding="utf-8"?>
<p:sldLayout xmlns:p="http://schemas.openxmlformats.org/presentationml/2006/main" type="objTx">
  <p:cSld name="Title and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p:cNvSpPr>
            <a:spLocks xmlns:a="http://schemas.openxmlformats.org/drawingml/2006/main" noGrp="1"/>
          </p:cNvSpPr>
          <p:nvPr>
            <p:ph type="body" idx="1"/>
          </p:nvPr>
        </p:nvSpPr>
        <p:spPr>
          <a:xfrm xmlns:a="http://schemas.openxmlformats.org/drawingml/2006/main">
            <a:off x="838200" y="1825625"/>
            <a:ext cx="10515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4.xml><?xml version="1.0" encoding="utf-8"?>
<p:sldLayout xmlns:p="http://schemas.openxmlformats.org/presentationml/2006/main" type="twoColTx">
  <p:cSld name="Two Content">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
        <p:nvSpPr>
          <p:cNvPr id="3" name="Content Left"/>
          <p:cNvSpPr>
            <a:spLocks xmlns:a="http://schemas.openxmlformats.org/drawingml/2006/main" noGrp="1"/>
          </p:cNvSpPr>
          <p:nvPr>
            <p:ph type="body"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endParaRPr lang="en-US"/>
          </a:p>
        </p:txBody>
      </p:sp>
      <p:sp>
        <p:nvSpPr>
          <p:cNvPr id="4" name="Content Right"/>
          <p:cNvSpPr>
            <a:spLocks xmlns:a="http://schemas.openxmlformats.org/drawingml/2006/main" noGrp="1"/>
          </p:cNvSpPr>
          <p:nvPr>
            <p:ph type="body"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Layouts/slideLayout5.xml><?xml version="1.0" encoding="utf-8"?>
<p:sldLayout xmlns:p="http://schemas.openxmlformats.org/presentationml/2006/main" type="titleOnly">
  <p:cSld name="Title Only">
    <p:spTree>
      <p:nvGrpSpPr>
        <p:cNvPr id="1" name=""/>
        <p:cNvGrpSpPr/>
        <p:nvPr/>
      </p:nvGrpSpPr>
      <p:grpSpPr/>
      <p:sp>
        <p:nvSpPr>
          <p:cNvPr id="2" name="Title"/>
          <p:cNvSpPr>
            <a:spLocks xmlns:a="http://schemas.openxmlformats.org/drawingml/2006/main" noGrp="1"/>
          </p:cNvSpPr>
          <p:nvPr>
            <p:ph type="title"/>
          </p:nvPr>
        </p:nvSpPr>
        <p:spPr>
          <a:xfrm xmlns:a="http://schemas.openxmlformats.org/drawingml/2006/main">
            <a:off x="838200" y="365125"/>
            <a:ext cx="10515600" cy="1325563"/>
          </a:xfrm>
        </p:spPr>
        <p:txBody>
          <a:bodyPr xmlns:a="http://schemas.openxmlformats.org/drawingml/2006/main"/>
          <a:lstStyle xmlns:a="http://schemas.openxmlformats.org/drawingml/2006/main"/>
          <a:p xmlns:a="http://schemas.openxmlformats.org/drawingml/2006/main">
            <a:endParaRPr lang="en-US"/>
          </a:p>
        </p:txBody>
      </p:sp>
    </p:spTree>
  </p:cSld>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theme" Target="/ppt/theme/theme1.xml" Id="R9b80607c684949f9"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s>
</file>

<file path=ppt/slideMasters/slideMaster1.xml><?xml version="1.0" encoding="utf-8"?>
<p:sldMaster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Id1"/>
    <p:sldLayoutId xmlns:r="http://schemas.openxmlformats.org/officeDocument/2006/relationships" id="2147483650" r:id="rId2"/>
    <p:sldLayoutId xmlns:r="http://schemas.openxmlformats.org/officeDocument/2006/relationships" id="2147483651" r:id="rId3"/>
    <p:sldLayoutId xmlns:r="http://schemas.openxmlformats.org/officeDocument/2006/relationships" id="2147483652" r:id="rId4"/>
    <p:sldLayoutId xmlns:r="http://schemas.openxmlformats.org/officeDocument/2006/relationships" id="2147483653" r:id="rId5"/>
  </p:sldLayoutIdLst>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fd607e7274b54668" /><Relationship Type="http://schemas.openxmlformats.org/officeDocument/2006/relationships/notesSlide" Target="/ppt/notesSlides/notesSlide1.xml" Id="R9dbe9b8ebc7a46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dc80700514847dc" /><Relationship Type="http://schemas.openxmlformats.org/officeDocument/2006/relationships/notesSlide" Target="/ppt/notesSlides/notesSlide2.xml" Id="R30999c0ce57141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92429619c240b6" /><Relationship Type="http://schemas.openxmlformats.org/officeDocument/2006/relationships/notesSlide" Target="/ppt/notesSlides/notesSlide3.xml" Id="R13cacafe0ae04c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0e46b31ca84bc8" /><Relationship Type="http://schemas.openxmlformats.org/officeDocument/2006/relationships/notesSlide" Target="/ppt/notesSlides/notesSlide4.xml" Id="R9fdb5dd6a7bc4b3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999da921aa4e4d" /><Relationship Type="http://schemas.openxmlformats.org/officeDocument/2006/relationships/notesSlide" Target="/ppt/notesSlides/notesSlide5.xml" Id="Rfe2f91e6444342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1171b4f7784ee6" /><Relationship Type="http://schemas.openxmlformats.org/officeDocument/2006/relationships/notesSlide" Target="/ppt/notesSlides/notesSlide6.xml" Id="Rbf5260ef28c54a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0b91e635e8442b" /><Relationship Type="http://schemas.openxmlformats.org/officeDocument/2006/relationships/notesSlide" Target="/ppt/notesSlides/notesSlide7.xml" Id="R7adbb54f1fbc49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045c2913e7f4cdb" /><Relationship Type="http://schemas.openxmlformats.org/officeDocument/2006/relationships/notesSlide" Target="/ppt/notesSlides/notesSlide8.xml" Id="R40b2f5c6624d4d2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f1a20e60a547d9" /><Relationship Type="http://schemas.openxmlformats.org/officeDocument/2006/relationships/notesSlide" Target="/ppt/notesSlides/notesSlide9.xml" Id="R483e50264db0448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ae244760434215" /><Relationship Type="http://schemas.openxmlformats.org/officeDocument/2006/relationships/notesSlide" Target="/ppt/notesSlides/notesSlide10.xml" Id="Re5f46d6a8cd6476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9ed1e1ddee4879" /><Relationship Type="http://schemas.openxmlformats.org/officeDocument/2006/relationships/notesSlide" Target="/ppt/notesSlides/notesSlide11.xml" Id="R2fdc95be8dc24f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0a5bdf36b84fce" /><Relationship Type="http://schemas.openxmlformats.org/officeDocument/2006/relationships/notesSlide" Target="/ppt/notesSlides/notesSlide12.xml" Id="R13e2bf7a022246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1ba66ab6f04b54" /><Relationship Type="http://schemas.openxmlformats.org/officeDocument/2006/relationships/notesSlide" Target="/ppt/notesSlides/notesSlide13.xml" Id="Rbbf5ebcbbf4545c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647252357d04657" /><Relationship Type="http://schemas.openxmlformats.org/officeDocument/2006/relationships/notesSlide" Target="/ppt/notesSlides/notesSlide14.xml" Id="R2f0d2dea621e417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cd46d923d6491c" /><Relationship Type="http://schemas.openxmlformats.org/officeDocument/2006/relationships/notesSlide" Target="/ppt/notesSlides/notesSlide15.xml" Id="R5c8ea431a23f4e5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bb2b1c46d6b4d39" /><Relationship Type="http://schemas.openxmlformats.org/officeDocument/2006/relationships/notesSlide" Target="/ppt/notesSlides/notesSlide16.xml" Id="R2650068c591c42c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f9e034474764a23" /><Relationship Type="http://schemas.openxmlformats.org/officeDocument/2006/relationships/notesSlide" Target="/ppt/notesSlides/notesSlide17.xml" Id="R45c03b382b1d4bd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e01c59dad34e95" /><Relationship Type="http://schemas.openxmlformats.org/officeDocument/2006/relationships/notesSlide" Target="/ppt/notesSlides/notesSlide18.xml" Id="Rb98d66b7f58f40a9" /></Relationships>
</file>

<file path=ppt/slides/slide1.xml><?xml version="1.0" encoding="utf-8"?>
<p:sld xmlns:p="http://schemas.openxmlformats.org/presentationml/2006/main">
  <p:cSld>
    <p:bg>
      <p:bgPr>
        <a:solidFill xmlns:a="http://schemas.openxmlformats.org/drawingml/2006/main">
          <a:srgbClr val="0A1628"/>
        </a:solidFill>
      </p:bgPr>
    </p:bg>
    <p:spTree>
      <p:nvGrpSpPr>
        <p:cNvPr id="1" name=""/>
        <p:cNvGrpSpPr/>
        <p:nvPr/>
      </p:nvGrpSpPr>
      <p:grpSpPr/>
      <p:sp>
        <p:nvSpPr>
          <p:cNvPr id="100000" name="AccentBar"/>
          <p:cNvSpPr txBox="1"/>
          <p:nvPr/>
        </p:nvSpPr>
        <p:spPr>
          <a:xfrm xmlns:a="http://schemas.openxmlformats.org/drawingml/2006/main">
            <a:off x="0" y="0"/>
            <a:ext cx="12193200" cy="180000"/>
          </a:xfrm>
          <a:prstGeom xmlns:a="http://schemas.openxmlformats.org/drawingml/2006/main" prst="rect">
            <a:avLst/>
          </a:prstGeom>
          <a:solidFill xmlns:a="http://schemas.openxmlformats.org/drawingml/2006/main">
            <a:srgbClr val="2ECC71"/>
          </a:solidFill>
        </p:spPr>
        <p:txBody>
          <a:bodyPr xmlns:a="http://schemas.openxmlformats.org/drawingml/2006/main"/>
          <a:lstStyle xmlns:a="http://schemas.openxmlformats.org/drawingml/2006/main"/>
          <a:p xmlns:a="http://schemas.openxmlformats.org/drawingml/2006/main">
            <a:endParaRPr lang="en-US">
              <a:solidFill>
                <a:srgbClr val="2ECC71"/>
              </a:solidFill>
            </a:endParaRPr>
          </a:p>
        </p:txBody>
      </p:sp>
      <p:sp>
        <p:nvSpPr>
          <p:cNvPr id="100001" name="Title"/>
          <p:cNvSpPr txBox="1"/>
          <p:nvPr/>
        </p:nvSpPr>
        <p:spPr>
          <a:xfrm xmlns:a="http://schemas.openxmlformats.org/drawingml/2006/main">
            <a:off x="720000" y="720000"/>
            <a:ext cx="10440000" cy="12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7200" b="1">
                <a:solidFill>
                  <a:srgbClr val="FFFFFF"/>
                </a:solidFill>
                <a:latin typeface="Calibri"/>
                <a:ea typeface="Calibri"/>
              </a:rPr>
              <a:t>NutriAI</a:t>
            </a:r>
          </a:p>
        </p:txBody>
      </p:sp>
      <p:sp>
        <p:nvSpPr>
          <p:cNvPr id="100002" name="Subtitle"/>
          <p:cNvSpPr txBox="1"/>
          <p:nvPr/>
        </p:nvSpPr>
        <p:spPr>
          <a:xfrm xmlns:a="http://schemas.openxmlformats.org/drawingml/2006/main">
            <a:off x="720000" y="1980000"/>
            <a:ext cx="10440000" cy="64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0">
                <a:solidFill>
                  <a:srgbClr val="2ECC71"/>
                </a:solidFill>
                <a:latin typeface="Calibri"/>
                <a:ea typeface="Calibri"/>
              </a:rPr>
              <a:t>Nutrition Agentic AI Application</a:t>
            </a:r>
          </a:p>
        </p:txBody>
      </p:sp>
      <p:sp>
        <p:nvSpPr>
          <p:cNvPr id="100003" name="Powered"/>
          <p:cNvSpPr txBox="1"/>
          <p:nvPr/>
        </p:nvSpPr>
        <p:spPr>
          <a:xfrm xmlns:a="http://schemas.openxmlformats.org/drawingml/2006/main">
            <a:off x="720000" y="2664000"/>
            <a:ext cx="10440000" cy="432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200" b="0">
                <a:solidFill>
                  <a:srgbClr val="A8C8FF"/>
                </a:solidFill>
                <a:latin typeface="Calibri"/>
                <a:ea typeface="Calibri"/>
              </a:rPr>
              <a:t>Powered by IBM Granite LLM  |  watsonx.ai</a:t>
            </a:r>
          </a:p>
        </p:txBody>
      </p:sp>
      <p:sp>
        <p:nvSpPr>
          <p:cNvPr id="100004" name="Tags"/>
          <p:cNvSpPr txBox="1"/>
          <p:nvPr/>
        </p:nvSpPr>
        <p:spPr>
          <a:xfrm xmlns:a="http://schemas.openxmlformats.org/drawingml/2006/main">
            <a:off x="720000" y="3168000"/>
            <a:ext cx="1044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7FAADD"/>
                </a:solidFill>
                <a:latin typeface="Calibri"/>
                <a:ea typeface="Calibri"/>
              </a:rPr>
              <a:t>Flask  |  Python 3.9+  |  REST API  |  Agentic AI SDLC  |  HAM Tone  |  Guardrails</a:t>
            </a:r>
          </a:p>
        </p:txBody>
      </p:sp>
      <p:sp>
        <p:nvSpPr>
          <p:cNvPr id="100005" name="BottomBar"/>
          <p:cNvSpPr txBox="1"/>
          <p:nvPr/>
        </p:nvSpPr>
        <p:spPr>
          <a:xfrm xmlns:a="http://schemas.openxmlformats.org/drawingml/2006/main">
            <a:off x="0" y="6624000"/>
            <a:ext cx="12193200" cy="216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endParaRPr lang="en-US">
              <a:solidFill>
                <a:srgbClr val="1A2E4A"/>
              </a:solidFill>
            </a:endParaRPr>
          </a:p>
        </p:txBody>
      </p:sp>
      <p:sp>
        <p:nvSpPr>
          <p:cNvPr id="100006" name="BottomText"/>
          <p:cNvSpPr txBox="1"/>
          <p:nvPr/>
        </p:nvSpPr>
        <p:spPr>
          <a:xfrm xmlns:a="http://schemas.openxmlformats.org/drawingml/2006/main">
            <a:off x="720000" y="6660000"/>
            <a:ext cx="10440000" cy="18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300" b="0">
                <a:solidFill>
                  <a:srgbClr val="7FAADD"/>
                </a:solidFill>
                <a:latin typeface="Calibri"/>
                <a:ea typeface="Calibri"/>
              </a:rPr>
              <a:t>github.com/diyabhikadiya7/-Nutrition-Agentic-AI-Application</a:t>
            </a:r>
          </a:p>
        </p:txBody>
      </p:sp>
    </p:spTree>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07"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08" name="Title"/>
          <p:cNvSpPr txBox="1"/>
          <p:nvPr/>
        </p:nvSpPr>
        <p:spPr>
          <a:xfrm xmlns:a="http://schemas.openxmlformats.org/drawingml/2006/main">
            <a:off x="540000" y="144000"/>
            <a:ext cx="72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Agenda</a:t>
            </a:r>
          </a:p>
        </p:txBody>
      </p:sp>
      <p:sp>
        <p:nvSpPr>
          <p:cNvPr id="100009" name="Accent"/>
          <p:cNvSpPr txBox="1"/>
          <p:nvPr/>
        </p:nvSpPr>
        <p:spPr>
          <a:xfrm xmlns:a="http://schemas.openxmlformats.org/drawingml/2006/main">
            <a:off x="0" y="1080000"/>
            <a:ext cx="180000" cy="5400000"/>
          </a:xfrm>
          <a:prstGeom xmlns:a="http://schemas.openxmlformats.org/drawingml/2006/main" prst="rect">
            <a:avLst/>
          </a:prstGeom>
          <a:solidFill xmlns:a="http://schemas.openxmlformats.org/drawingml/2006/main">
            <a:srgbClr val="2ECC71"/>
          </a:solidFill>
        </p:spPr>
        <p:txBody>
          <a:bodyPr xmlns:a="http://schemas.openxmlformats.org/drawingml/2006/main"/>
          <a:lstStyle xmlns:a="http://schemas.openxmlformats.org/drawingml/2006/main"/>
          <a:p xmlns:a="http://schemas.openxmlformats.org/drawingml/2006/main">
            <a:endParaRPr lang="en-US">
              <a:solidFill>
                <a:srgbClr val="2ECC71"/>
              </a:solidFill>
            </a:endParaRPr>
          </a:p>
        </p:txBody>
      </p:sp>
      <p:sp>
        <p:nvSpPr>
          <p:cNvPr id="100010" name="AgendaList"/>
          <p:cNvSpPr txBox="1"/>
          <p:nvPr/>
        </p:nvSpPr>
        <p:spPr>
          <a:xfrm xmlns:a="http://schemas.openxmlformats.org/drawingml/2006/main">
            <a:off x="540000" y="1188000"/>
            <a:ext cx="10800000" cy="50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0">
                <a:solidFill>
                  <a:srgbClr val="1A1A2E"/>
                </a:solidFill>
                <a:latin typeface="Calibri"/>
                <a:ea typeface="Calibri"/>
              </a:rPr>
              <a:t>01  Project Overview &amp; Problem Statement</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02  Technology Stack &amp; Architecture</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03  Agentic AI SDLC — 7 Phases</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04  Key Features &amp; Capabilities</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05  AI Guardrails &amp; Ethics (HAM Tone)</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06  Sample Nutrition Plan Output</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07  7-Day Meal Plan Data</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08  BMI / TDEE Calculator Results</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09  API Endpoints &amp; Backend</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10  Web Application — UI Walkthrough</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11  GitHub Deployment</a:t>
            </a:r>
          </a:p>
          <a:p xmlns:a="http://schemas.openxmlformats.org/drawingml/2006/main">
            <a:r>
              <a:rPr lang="en-US" sz="1800" b="0">
                <a:solidFill>
                  <a:srgbClr val="1A1A2E"/>
                </a:solidFill>
                <a:latin typeface="Calibri"/>
                <a:ea typeface="Calibri"/>
              </a:rPr>
              <a:t/>
            </a:r>
          </a:p>
          <a:p xmlns:a="http://schemas.openxmlformats.org/drawingml/2006/main">
            <a:r>
              <a:rPr lang="en-US" sz="1800" b="0">
                <a:solidFill>
                  <a:srgbClr val="1A1A2E"/>
                </a:solidFill>
                <a:latin typeface="Calibri"/>
                <a:ea typeface="Calibri"/>
              </a:rPr>
              <a:t>12  Conclusion &amp; Next Steps</a:t>
            </a:r>
          </a:p>
        </p:txBody>
      </p:sp>
    </p:spTree>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1"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12"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Project Overview</a:t>
            </a:r>
          </a:p>
        </p:txBody>
      </p:sp>
      <p:sp>
        <p:nvSpPr>
          <p:cNvPr id="100013"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01</a:t>
            </a:r>
          </a:p>
        </p:txBody>
      </p:sp>
      <p:sp>
        <p:nvSpPr>
          <p:cNvPr id="100014" name="WhatBox"/>
          <p:cNvSpPr txBox="1"/>
          <p:nvPr/>
        </p:nvSpPr>
        <p:spPr>
          <a:xfrm xmlns:a="http://schemas.openxmlformats.org/drawingml/2006/main">
            <a:off x="360000" y="1152000"/>
            <a:ext cx="7200000" cy="216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600" b="0">
                <a:solidFill>
                  <a:srgbClr val="1A1A2E"/>
                </a:solidFill>
                <a:latin typeface="Calibri"/>
                <a:ea typeface="Calibri"/>
              </a:rPr>
              <a:t>WHAT IS NUTRIAI?</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NutriAI is a full-stack Agentic AI web application that generates personalised 7-day nutrition plans using IBM Granite 13B LLM on watsonx.ai.</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It follows the complete Agentic AI SDLC with built-in safety guardrails, ethical AI principles, and a HAM (Helpful, Accurate, Mindful) communication framework.</a:t>
            </a:r>
          </a:p>
        </p:txBody>
      </p:sp>
      <p:sp>
        <p:nvSpPr>
          <p:cNvPr id="100015" name="ProblemBox"/>
          <p:cNvSpPr txBox="1"/>
          <p:nvPr/>
        </p:nvSpPr>
        <p:spPr>
          <a:xfrm xmlns:a="http://schemas.openxmlformats.org/drawingml/2006/main">
            <a:off x="360000" y="3420000"/>
            <a:ext cx="7200000" cy="1800000"/>
          </a:xfrm>
          <a:prstGeom xmlns:a="http://schemas.openxmlformats.org/drawingml/2006/main" prst="rect">
            <a:avLst/>
          </a:prstGeom>
          <a:solidFill xmlns:a="http://schemas.openxmlformats.org/drawingml/2006/main">
            <a:srgbClr val="FFF8F0"/>
          </a:solidFill>
        </p:spPr>
        <p:txBody>
          <a:bodyPr xmlns:a="http://schemas.openxmlformats.org/drawingml/2006/main"/>
          <a:lstStyle xmlns:a="http://schemas.openxmlformats.org/drawingml/2006/main"/>
          <a:p xmlns:a="http://schemas.openxmlformats.org/drawingml/2006/main">
            <a:r>
              <a:rPr lang="en-US" sz="1600" b="0">
                <a:solidFill>
                  <a:srgbClr val="1A1A2E"/>
                </a:solidFill>
                <a:latin typeface="Calibri"/>
                <a:ea typeface="Calibri"/>
              </a:rPr>
              <a:t>PROBLEM STATEMENT</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Millions lack access to personalised dietary guidance. Generic diet plans ignore individual medical history, location-specific food availability, cultural preferences, and health goals.</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NutriAI bridges this gap with AI-powered, safe, and personalised nutrition advice.</a:t>
            </a:r>
          </a:p>
        </p:txBody>
      </p:sp>
      <p:sp>
        <p:nvSpPr>
          <p:cNvPr id="100016" name="StatsBox"/>
          <p:cNvSpPr txBox="1"/>
          <p:nvPr/>
        </p:nvSpPr>
        <p:spPr>
          <a:xfrm xmlns:a="http://schemas.openxmlformats.org/drawingml/2006/main">
            <a:off x="7920000" y="1152000"/>
            <a:ext cx="3600000" cy="4068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r>
              <a:rPr lang="en-US" sz="1800" b="0">
                <a:solidFill>
                  <a:srgbClr val="FFFFFF"/>
                </a:solidFill>
                <a:latin typeface="Calibri"/>
                <a:ea typeface="Calibri"/>
              </a:rPr>
              <a:t>KEY STATS</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 9  Features</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 7  Agentic SDLC Phases</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 7  API Endpoints</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 7  Days Meal Plan</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 5  Python Dependencies</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 0  API Key Required for Demo</a:t>
            </a:r>
          </a:p>
        </p:txBody>
      </p:sp>
    </p:spTree>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17"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18"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Technology Stack &amp; Architecture</a:t>
            </a:r>
          </a:p>
        </p:txBody>
      </p:sp>
      <p:sp>
        <p:nvSpPr>
          <p:cNvPr id="100019"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02</a:t>
            </a:r>
          </a:p>
        </p:txBody>
      </p:sp>
      <p:sp>
        <p:nvSpPr>
          <p:cNvPr id="100020" name="LLMBox"/>
          <p:cNvSpPr txBox="1"/>
          <p:nvPr/>
        </p:nvSpPr>
        <p:spPr>
          <a:xfrm xmlns:a="http://schemas.openxmlformats.org/drawingml/2006/main">
            <a:off x="360000" y="1188000"/>
            <a:ext cx="2700000" cy="2880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500" b="0">
                <a:solidFill>
                  <a:srgbClr val="FFFFFF"/>
                </a:solidFill>
                <a:latin typeface="Calibri"/>
                <a:ea typeface="Calibri"/>
              </a:rPr>
              <a:t>LLM LAYER</a:t>
            </a:r>
          </a:p>
          <a:p xmlns:a="http://schemas.openxmlformats.org/drawingml/2006/main">
            <a:r>
              <a:rPr lang="en-US" sz="1500" b="0">
                <a:solidFill>
                  <a:srgbClr val="FFFFFF"/>
                </a:solidFill>
                <a:latin typeface="Calibri"/>
                <a:ea typeface="Calibri"/>
              </a:rPr>
              <a:t>IBM Granite 13B Instruct v2</a:t>
            </a:r>
          </a:p>
          <a:p xmlns:a="http://schemas.openxmlformats.org/drawingml/2006/main">
            <a:r>
              <a:rPr lang="en-US" sz="1500" b="0">
                <a:solidFill>
                  <a:srgbClr val="FFFFFF"/>
                </a:solidFill>
                <a:latin typeface="Calibri"/>
                <a:ea typeface="Calibri"/>
              </a:rPr>
              <a:t>via watsonx.ai</a:t>
            </a:r>
          </a:p>
          <a:p xmlns:a="http://schemas.openxmlformats.org/drawingml/2006/main">
            <a:r>
              <a:rPr lang="en-US" sz="1500" b="0">
                <a:solidFill>
                  <a:srgbClr val="FFFFFF"/>
                </a:solidFill>
                <a:latin typeface="Calibri"/>
                <a:ea typeface="Calibri"/>
              </a:rPr>
              <a:t/>
            </a:r>
          </a:p>
          <a:p xmlns:a="http://schemas.openxmlformats.org/drawingml/2006/main">
            <a:r>
              <a:rPr lang="en-US" sz="1500" b="0">
                <a:solidFill>
                  <a:srgbClr val="FFFFFF"/>
                </a:solidFill>
                <a:latin typeface="Calibri"/>
                <a:ea typeface="Calibri"/>
              </a:rPr>
              <a:t>Model ID:</a:t>
            </a:r>
          </a:p>
          <a:p xmlns:a="http://schemas.openxmlformats.org/drawingml/2006/main">
            <a:r>
              <a:rPr lang="en-US" sz="1500" b="0">
                <a:solidFill>
                  <a:srgbClr val="FFFFFF"/>
                </a:solidFill>
                <a:latin typeface="Calibri"/>
                <a:ea typeface="Calibri"/>
              </a:rPr>
              <a:t>ibm/granite-13b-instruct-v2</a:t>
            </a:r>
          </a:p>
          <a:p xmlns:a="http://schemas.openxmlformats.org/drawingml/2006/main">
            <a:r>
              <a:rPr lang="en-US" sz="1500" b="0">
                <a:solidFill>
                  <a:srgbClr val="FFFFFF"/>
                </a:solidFill>
                <a:latin typeface="Calibri"/>
                <a:ea typeface="Calibri"/>
              </a:rPr>
              <a:t/>
            </a:r>
          </a:p>
          <a:p xmlns:a="http://schemas.openxmlformats.org/drawingml/2006/main">
            <a:r>
              <a:rPr lang="en-US" sz="1500" b="0">
                <a:solidFill>
                  <a:srgbClr val="FFFFFF"/>
                </a:solidFill>
                <a:latin typeface="Calibri"/>
                <a:ea typeface="Calibri"/>
              </a:rPr>
              <a:t>Fallback: REST API</a:t>
            </a:r>
          </a:p>
          <a:p xmlns:a="http://schemas.openxmlformats.org/drawingml/2006/main">
            <a:r>
              <a:rPr lang="en-US" sz="1500" b="0">
                <a:solidFill>
                  <a:srgbClr val="FFFFFF"/>
                </a:solidFill>
                <a:latin typeface="Calibri"/>
                <a:ea typeface="Calibri"/>
              </a:rPr>
              <a:t>(no SDK required)</a:t>
            </a:r>
          </a:p>
        </p:txBody>
      </p:sp>
      <p:sp>
        <p:nvSpPr>
          <p:cNvPr id="100021" name="BackendBox"/>
          <p:cNvSpPr txBox="1"/>
          <p:nvPr/>
        </p:nvSpPr>
        <p:spPr>
          <a:xfrm xmlns:a="http://schemas.openxmlformats.org/drawingml/2006/main">
            <a:off x="3420000" y="1188000"/>
            <a:ext cx="2700000" cy="2880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r>
              <a:rPr lang="en-US" sz="1500" b="0">
                <a:solidFill>
                  <a:srgbClr val="FFFFFF"/>
                </a:solidFill>
                <a:latin typeface="Calibri"/>
                <a:ea typeface="Calibri"/>
              </a:rPr>
              <a:t>BACKEND</a:t>
            </a:r>
          </a:p>
          <a:p xmlns:a="http://schemas.openxmlformats.org/drawingml/2006/main">
            <a:r>
              <a:rPr lang="en-US" sz="1500" b="0">
                <a:solidFill>
                  <a:srgbClr val="FFFFFF"/>
                </a:solidFill>
                <a:latin typeface="Calibri"/>
                <a:ea typeface="Calibri"/>
              </a:rPr>
              <a:t>Python 3.9+</a:t>
            </a:r>
          </a:p>
          <a:p xmlns:a="http://schemas.openxmlformats.org/drawingml/2006/main">
            <a:r>
              <a:rPr lang="en-US" sz="1500" b="0">
                <a:solidFill>
                  <a:srgbClr val="FFFFFF"/>
                </a:solidFill>
                <a:latin typeface="Calibri"/>
                <a:ea typeface="Calibri"/>
              </a:rPr>
              <a:t>Flask 3.0.3</a:t>
            </a:r>
          </a:p>
          <a:p xmlns:a="http://schemas.openxmlformats.org/drawingml/2006/main">
            <a:r>
              <a:rPr lang="en-US" sz="1500" b="0">
                <a:solidFill>
                  <a:srgbClr val="FFFFFF"/>
                </a:solidFill>
                <a:latin typeface="Calibri"/>
                <a:ea typeface="Calibri"/>
              </a:rPr>
              <a:t>Flask-CORS 4.0.1</a:t>
            </a:r>
          </a:p>
          <a:p xmlns:a="http://schemas.openxmlformats.org/drawingml/2006/main">
            <a:r>
              <a:rPr lang="en-US" sz="1500" b="0">
                <a:solidFill>
                  <a:srgbClr val="FFFFFF"/>
                </a:solidFill>
                <a:latin typeface="Calibri"/>
                <a:ea typeface="Calibri"/>
              </a:rPr>
              <a:t>Requests 2.32</a:t>
            </a:r>
          </a:p>
          <a:p xmlns:a="http://schemas.openxmlformats.org/drawingml/2006/main">
            <a:r>
              <a:rPr lang="en-US" sz="1500" b="0">
                <a:solidFill>
                  <a:srgbClr val="FFFFFF"/>
                </a:solidFill>
                <a:latin typeface="Calibri"/>
                <a:ea typeface="Calibri"/>
              </a:rPr>
              <a:t>python-dotenv</a:t>
            </a:r>
          </a:p>
          <a:p xmlns:a="http://schemas.openxmlformats.org/drawingml/2006/main">
            <a:r>
              <a:rPr lang="en-US" sz="1500" b="0">
                <a:solidFill>
                  <a:srgbClr val="FFFFFF"/>
                </a:solidFill>
                <a:latin typeface="Calibri"/>
                <a:ea typeface="Calibri"/>
              </a:rPr>
              <a:t/>
            </a:r>
          </a:p>
          <a:p xmlns:a="http://schemas.openxmlformats.org/drawingml/2006/main">
            <a:r>
              <a:rPr lang="en-US" sz="1500" b="0">
                <a:solidFill>
                  <a:srgbClr val="FFFFFF"/>
                </a:solidFill>
                <a:latin typeface="Calibri"/>
                <a:ea typeface="Calibri"/>
              </a:rPr>
              <a:t>Entry: app.py</a:t>
            </a:r>
          </a:p>
          <a:p xmlns:a="http://schemas.openxmlformats.org/drawingml/2006/main">
            <a:r>
              <a:rPr lang="en-US" sz="1500" b="0">
                <a:solidFill>
                  <a:srgbClr val="FFFFFF"/>
                </a:solidFill>
                <a:latin typeface="Calibri"/>
                <a:ea typeface="Calibri"/>
              </a:rPr>
              <a:t>7 REST Endpoints</a:t>
            </a:r>
          </a:p>
        </p:txBody>
      </p:sp>
      <p:sp>
        <p:nvSpPr>
          <p:cNvPr id="100022" name="AgentBox"/>
          <p:cNvSpPr txBox="1"/>
          <p:nvPr/>
        </p:nvSpPr>
        <p:spPr>
          <a:xfrm xmlns:a="http://schemas.openxmlformats.org/drawingml/2006/main">
            <a:off x="6480000" y="1188000"/>
            <a:ext cx="2700000" cy="2880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r>
              <a:rPr lang="en-US" sz="1500" b="0">
                <a:solidFill>
                  <a:srgbClr val="FFFFFF"/>
                </a:solidFill>
                <a:latin typeface="Calibri"/>
                <a:ea typeface="Calibri"/>
              </a:rPr>
              <a:t>AGENT LAYER</a:t>
            </a:r>
          </a:p>
          <a:p xmlns:a="http://schemas.openxmlformats.org/drawingml/2006/main">
            <a:r>
              <a:rPr lang="en-US" sz="1500" b="0">
                <a:solidFill>
                  <a:srgbClr val="FFFFFF"/>
                </a:solidFill>
                <a:latin typeface="Calibri"/>
                <a:ea typeface="Calibri"/>
              </a:rPr>
              <a:t>agent/agent.py</a:t>
            </a:r>
          </a:p>
          <a:p xmlns:a="http://schemas.openxmlformats.org/drawingml/2006/main">
            <a:r>
              <a:rPr lang="en-US" sz="1500" b="0">
                <a:solidFill>
                  <a:srgbClr val="FFFFFF"/>
                </a:solidFill>
                <a:latin typeface="Calibri"/>
                <a:ea typeface="Calibri"/>
              </a:rPr>
              <a:t>agent/granite_client.py</a:t>
            </a:r>
          </a:p>
          <a:p xmlns:a="http://schemas.openxmlformats.org/drawingml/2006/main">
            <a:r>
              <a:rPr lang="en-US" sz="1500" b="0">
                <a:solidFill>
                  <a:srgbClr val="FFFFFF"/>
                </a:solidFill>
                <a:latin typeface="Calibri"/>
                <a:ea typeface="Calibri"/>
              </a:rPr>
              <a:t>agent/guardrails.py</a:t>
            </a:r>
          </a:p>
          <a:p xmlns:a="http://schemas.openxmlformats.org/drawingml/2006/main">
            <a:r>
              <a:rPr lang="en-US" sz="1500" b="0">
                <a:solidFill>
                  <a:srgbClr val="FFFFFF"/>
                </a:solidFill>
                <a:latin typeface="Calibri"/>
                <a:ea typeface="Calibri"/>
              </a:rPr>
              <a:t>agent/prompts.py</a:t>
            </a:r>
          </a:p>
          <a:p xmlns:a="http://schemas.openxmlformats.org/drawingml/2006/main">
            <a:r>
              <a:rPr lang="en-US" sz="1500" b="0">
                <a:solidFill>
                  <a:srgbClr val="FFFFFF"/>
                </a:solidFill>
                <a:latin typeface="Calibri"/>
                <a:ea typeface="Calibri"/>
              </a:rPr>
              <a:t/>
            </a:r>
          </a:p>
          <a:p xmlns:a="http://schemas.openxmlformats.org/drawingml/2006/main">
            <a:r>
              <a:rPr lang="en-US" sz="1500" b="0">
                <a:solidFill>
                  <a:srgbClr val="FFFFFF"/>
                </a:solidFill>
                <a:latin typeface="Calibri"/>
                <a:ea typeface="Calibri"/>
              </a:rPr>
              <a:t>Pattern: Perceive</a:t>
            </a:r>
          </a:p>
          <a:p xmlns:a="http://schemas.openxmlformats.org/drawingml/2006/main">
            <a:r>
              <a:rPr lang="en-US" sz="1500" b="0">
                <a:solidFill>
                  <a:srgbClr val="FFFFFF"/>
                </a:solidFill>
                <a:latin typeface="Calibri"/>
                <a:ea typeface="Calibri"/>
              </a:rPr>
              <a:t>Plan  Act</a:t>
            </a:r>
          </a:p>
          <a:p xmlns:a="http://schemas.openxmlformats.org/drawingml/2006/main">
            <a:r>
              <a:rPr lang="en-US" sz="1500" b="0">
                <a:solidFill>
                  <a:srgbClr val="FFFFFF"/>
                </a:solidFill>
                <a:latin typeface="Calibri"/>
                <a:ea typeface="Calibri"/>
              </a:rPr>
              <a:t>Reflect  Respond</a:t>
            </a:r>
          </a:p>
        </p:txBody>
      </p:sp>
      <p:sp>
        <p:nvSpPr>
          <p:cNvPr id="100023" name="FrontendBox"/>
          <p:cNvSpPr txBox="1"/>
          <p:nvPr/>
        </p:nvSpPr>
        <p:spPr>
          <a:xfrm xmlns:a="http://schemas.openxmlformats.org/drawingml/2006/main">
            <a:off x="9540000" y="1188000"/>
            <a:ext cx="2520000" cy="2880000"/>
          </a:xfrm>
          <a:prstGeom xmlns:a="http://schemas.openxmlformats.org/drawingml/2006/main" prst="rect">
            <a:avLst/>
          </a:prstGeom>
          <a:solidFill xmlns:a="http://schemas.openxmlformats.org/drawingml/2006/main">
            <a:srgbClr val="B71C1C"/>
          </a:solidFill>
        </p:spPr>
        <p:txBody>
          <a:bodyPr xmlns:a="http://schemas.openxmlformats.org/drawingml/2006/main"/>
          <a:lstStyle xmlns:a="http://schemas.openxmlformats.org/drawingml/2006/main"/>
          <a:p xmlns:a="http://schemas.openxmlformats.org/drawingml/2006/main">
            <a:r>
              <a:rPr lang="en-US" sz="1500" b="0">
                <a:solidFill>
                  <a:srgbClr val="FFFFFF"/>
                </a:solidFill>
                <a:latin typeface="Calibri"/>
                <a:ea typeface="Calibri"/>
              </a:rPr>
              <a:t>FRONTEND</a:t>
            </a:r>
          </a:p>
          <a:p xmlns:a="http://schemas.openxmlformats.org/drawingml/2006/main">
            <a:r>
              <a:rPr lang="en-US" sz="1500" b="0">
                <a:solidFill>
                  <a:srgbClr val="FFFFFF"/>
                </a:solidFill>
                <a:latin typeface="Calibri"/>
                <a:ea typeface="Calibri"/>
              </a:rPr>
              <a:t>Vanilla HTML5</a:t>
            </a:r>
          </a:p>
          <a:p xmlns:a="http://schemas.openxmlformats.org/drawingml/2006/main">
            <a:r>
              <a:rPr lang="en-US" sz="1500" b="0">
                <a:solidFill>
                  <a:srgbClr val="FFFFFF"/>
                </a:solidFill>
                <a:latin typeface="Calibri"/>
                <a:ea typeface="Calibri"/>
              </a:rPr>
              <a:t>CSS3 (Responsive)</a:t>
            </a:r>
          </a:p>
          <a:p xmlns:a="http://schemas.openxmlformats.org/drawingml/2006/main">
            <a:r>
              <a:rPr lang="en-US" sz="1500" b="0">
                <a:solidFill>
                  <a:srgbClr val="FFFFFF"/>
                </a:solidFill>
                <a:latin typeface="Calibri"/>
                <a:ea typeface="Calibri"/>
              </a:rPr>
              <a:t>JavaScript (ES6+)</a:t>
            </a:r>
          </a:p>
          <a:p xmlns:a="http://schemas.openxmlformats.org/drawingml/2006/main">
            <a:r>
              <a:rPr lang="en-US" sz="1500" b="0">
                <a:solidFill>
                  <a:srgbClr val="FFFFFF"/>
                </a:solidFill>
                <a:latin typeface="Calibri"/>
                <a:ea typeface="Calibri"/>
              </a:rPr>
              <a:t/>
            </a:r>
          </a:p>
          <a:p xmlns:a="http://schemas.openxmlformats.org/drawingml/2006/main">
            <a:r>
              <a:rPr lang="en-US" sz="1500" b="0">
                <a:solidFill>
                  <a:srgbClr val="FFFFFF"/>
                </a:solidFill>
                <a:latin typeface="Calibri"/>
                <a:ea typeface="Calibri"/>
              </a:rPr>
              <a:t>Single Page App</a:t>
            </a:r>
          </a:p>
          <a:p xmlns:a="http://schemas.openxmlformats.org/drawingml/2006/main">
            <a:r>
              <a:rPr lang="en-US" sz="1500" b="0">
                <a:solidFill>
                  <a:srgbClr val="FFFFFF"/>
                </a:solidFill>
                <a:latin typeface="Calibri"/>
                <a:ea typeface="Calibri"/>
              </a:rPr>
              <a:t>static/index.html</a:t>
            </a:r>
          </a:p>
          <a:p xmlns:a="http://schemas.openxmlformats.org/drawingml/2006/main">
            <a:r>
              <a:rPr lang="en-US" sz="1500" b="0">
                <a:solidFill>
                  <a:srgbClr val="FFFFFF"/>
                </a:solidFill>
                <a:latin typeface="Calibri"/>
                <a:ea typeface="Calibri"/>
              </a:rPr>
              <a:t>static/app.js</a:t>
            </a:r>
          </a:p>
          <a:p xmlns:a="http://schemas.openxmlformats.org/drawingml/2006/main">
            <a:r>
              <a:rPr lang="en-US" sz="1500" b="0">
                <a:solidFill>
                  <a:srgbClr val="FFFFFF"/>
                </a:solidFill>
                <a:latin typeface="Calibri"/>
                <a:ea typeface="Calibri"/>
              </a:rPr>
              <a:t>static/style.css</a:t>
            </a:r>
          </a:p>
        </p:txBody>
      </p:sp>
      <p:sp>
        <p:nvSpPr>
          <p:cNvPr id="100024" name="ArchFlow"/>
          <p:cNvSpPr txBox="1"/>
          <p:nvPr/>
        </p:nvSpPr>
        <p:spPr>
          <a:xfrm xmlns:a="http://schemas.openxmlformats.org/drawingml/2006/main">
            <a:off x="360000" y="4320000"/>
            <a:ext cx="11160000" cy="180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400" b="0">
                <a:solidFill>
                  <a:srgbClr val="1A1A2E"/>
                </a:solidFill>
                <a:latin typeface="Courier New"/>
                <a:ea typeface="Courier New"/>
              </a:rPr>
              <a:t>User Browser  --&gt;  Flask API (app.py)  --&gt;  NutritionAgent  --&gt;  Granite Client  --&gt;  IBM watsonx.ai</a:t>
            </a:r>
          </a:p>
          <a:p xmlns:a="http://schemas.openxmlformats.org/drawingml/2006/main">
            <a:r>
              <a:rPr lang="en-US" sz="1400" b="0">
                <a:solidFill>
                  <a:srgbClr val="1A1A2E"/>
                </a:solidFill>
                <a:latin typeface="Courier New"/>
                <a:ea typeface="Courier New"/>
              </a:rPr>
              <a:t>                                                      |</a:t>
            </a:r>
          </a:p>
          <a:p xmlns:a="http://schemas.openxmlformats.org/drawingml/2006/main">
            <a:r>
              <a:rPr lang="en-US" sz="1400" b="0">
                <a:solidFill>
                  <a:srgbClr val="1A1A2E"/>
                </a:solidFill>
                <a:latin typeface="Courier New"/>
                <a:ea typeface="Courier New"/>
              </a:rPr>
              <a:t>                               Guardrails (Input/Output Safety)</a:t>
            </a:r>
          </a:p>
          <a:p xmlns:a="http://schemas.openxmlformats.org/drawingml/2006/main">
            <a:r>
              <a:rPr lang="en-US" sz="1400" b="0">
                <a:solidFill>
                  <a:srgbClr val="1A1A2E"/>
                </a:solidFill>
                <a:latin typeface="Courier New"/>
                <a:ea typeface="Courier New"/>
              </a:rPr>
              <a:t>                                                      |</a:t>
            </a:r>
          </a:p>
          <a:p xmlns:a="http://schemas.openxmlformats.org/drawingml/2006/main">
            <a:r>
              <a:rPr lang="en-US" sz="1400" b="0">
                <a:solidFill>
                  <a:srgbClr val="1A1A2E"/>
                </a:solidFill>
                <a:latin typeface="Courier New"/>
                <a:ea typeface="Courier New"/>
              </a:rPr>
              <a:t>                                      Markdown .md file saved to /plans</a:t>
            </a:r>
          </a:p>
        </p:txBody>
      </p:sp>
    </p:spTree>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25"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26"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Agentic AI SDLC — 7 Phases</a:t>
            </a:r>
          </a:p>
        </p:txBody>
      </p:sp>
      <p:sp>
        <p:nvSpPr>
          <p:cNvPr id="100027"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03</a:t>
            </a:r>
          </a:p>
        </p:txBody>
      </p:sp>
      <p:sp>
        <p:nvSpPr>
          <p:cNvPr id="100028" name="Ph1"/>
          <p:cNvSpPr txBox="1"/>
          <p:nvPr/>
        </p:nvSpPr>
        <p:spPr>
          <a:xfrm xmlns:a="http://schemas.openxmlformats.org/drawingml/2006/main">
            <a:off x="360000" y="1188000"/>
            <a:ext cx="1512000" cy="3060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PHASE 1</a:t>
            </a:r>
          </a:p>
          <a:p xmlns:a="http://schemas.openxmlformats.org/drawingml/2006/main">
            <a:r>
              <a:rPr lang="en-US" sz="1300" b="0">
                <a:solidFill>
                  <a:srgbClr val="FFFFFF"/>
                </a:solidFill>
                <a:latin typeface="Calibri"/>
                <a:ea typeface="Calibri"/>
              </a:rPr>
              <a:t>Requirements &amp;</a:t>
            </a:r>
          </a:p>
          <a:p xmlns:a="http://schemas.openxmlformats.org/drawingml/2006/main">
            <a:r>
              <a:rPr lang="en-US" sz="1300" b="0">
                <a:solidFill>
                  <a:srgbClr val="FFFFFF"/>
                </a:solidFill>
                <a:latin typeface="Calibri"/>
                <a:ea typeface="Calibri"/>
              </a:rPr>
              <a:t>Ethics Review</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guardrails.py</a:t>
            </a:r>
          </a:p>
          <a:p xmlns:a="http://schemas.openxmlformats.org/drawingml/2006/main">
            <a:r>
              <a:rPr lang="en-US" sz="1300" b="0">
                <a:solidFill>
                  <a:srgbClr val="FFFFFF"/>
                </a:solidFill>
                <a:latin typeface="Calibri"/>
                <a:ea typeface="Calibri"/>
              </a:rPr>
              <a:t>HAM tone setup</a:t>
            </a:r>
          </a:p>
          <a:p xmlns:a="http://schemas.openxmlformats.org/drawingml/2006/main">
            <a:r>
              <a:rPr lang="en-US" sz="1300" b="0">
                <a:solidFill>
                  <a:srgbClr val="FFFFFF"/>
                </a:solidFill>
                <a:latin typeface="Calibri"/>
                <a:ea typeface="Calibri"/>
              </a:rPr>
              <a:t>Forbidden keywords</a:t>
            </a:r>
          </a:p>
          <a:p xmlns:a="http://schemas.openxmlformats.org/drawingml/2006/main">
            <a:r>
              <a:rPr lang="en-US" sz="1300" b="0">
                <a:solidFill>
                  <a:srgbClr val="FFFFFF"/>
                </a:solidFill>
                <a:latin typeface="Calibri"/>
                <a:ea typeface="Calibri"/>
              </a:rPr>
              <a:t>defined</a:t>
            </a:r>
          </a:p>
        </p:txBody>
      </p:sp>
      <p:sp>
        <p:nvSpPr>
          <p:cNvPr id="100029" name="Ph2"/>
          <p:cNvSpPr txBox="1"/>
          <p:nvPr/>
        </p:nvSpPr>
        <p:spPr>
          <a:xfrm xmlns:a="http://schemas.openxmlformats.org/drawingml/2006/main">
            <a:off x="1980000" y="1188000"/>
            <a:ext cx="1512000" cy="3060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PHASE 2</a:t>
            </a:r>
          </a:p>
          <a:p xmlns:a="http://schemas.openxmlformats.org/drawingml/2006/main">
            <a:r>
              <a:rPr lang="en-US" sz="1300" b="0">
                <a:solidFill>
                  <a:srgbClr val="FFFFFF"/>
                </a:solidFill>
                <a:latin typeface="Calibri"/>
                <a:ea typeface="Calibri"/>
              </a:rPr>
              <a:t>Data Collection</a:t>
            </a:r>
          </a:p>
          <a:p xmlns:a="http://schemas.openxmlformats.org/drawingml/2006/main">
            <a:r>
              <a:rPr lang="en-US" sz="1300" b="0">
                <a:solidFill>
                  <a:srgbClr val="FFFFFF"/>
                </a:solidFill>
                <a:latin typeface="Calibri"/>
                <a:ea typeface="Calibri"/>
              </a:rPr>
              <a:t>&amp; Validation</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agent.py</a:t>
            </a:r>
          </a:p>
          <a:p xmlns:a="http://schemas.openxmlformats.org/drawingml/2006/main">
            <a:r>
              <a:rPr lang="en-US" sz="1300" b="0">
                <a:solidFill>
                  <a:srgbClr val="FFFFFF"/>
                </a:solidFill>
                <a:latin typeface="Calibri"/>
                <a:ea typeface="Calibri"/>
              </a:rPr>
              <a:t>perceive()</a:t>
            </a:r>
          </a:p>
          <a:p xmlns:a="http://schemas.openxmlformats.org/drawingml/2006/main">
            <a:r>
              <a:rPr lang="en-US" sz="1300" b="0">
                <a:solidFill>
                  <a:srgbClr val="FFFFFF"/>
                </a:solidFill>
                <a:latin typeface="Calibri"/>
                <a:ea typeface="Calibri"/>
              </a:rPr>
              <a:t>Profile validation</a:t>
            </a:r>
          </a:p>
          <a:p xmlns:a="http://schemas.openxmlformats.org/drawingml/2006/main">
            <a:r>
              <a:rPr lang="en-US" sz="1300" b="0">
                <a:solidFill>
                  <a:srgbClr val="FFFFFF"/>
                </a:solidFill>
                <a:latin typeface="Calibri"/>
                <a:ea typeface="Calibri"/>
              </a:rPr>
              <a:t>Age safety check</a:t>
            </a:r>
          </a:p>
        </p:txBody>
      </p:sp>
      <p:sp>
        <p:nvSpPr>
          <p:cNvPr id="100030" name="Ph3"/>
          <p:cNvSpPr txBox="1"/>
          <p:nvPr/>
        </p:nvSpPr>
        <p:spPr>
          <a:xfrm xmlns:a="http://schemas.openxmlformats.org/drawingml/2006/main">
            <a:off x="3600000" y="1188000"/>
            <a:ext cx="1512000" cy="3060000"/>
          </a:xfrm>
          <a:prstGeom xmlns:a="http://schemas.openxmlformats.org/drawingml/2006/main" prst="rect">
            <a:avLst/>
          </a:prstGeom>
          <a:solidFill xmlns:a="http://schemas.openxmlformats.org/drawingml/2006/main">
            <a:srgbClr val="6A1B9A"/>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PHASE 3</a:t>
            </a:r>
          </a:p>
          <a:p xmlns:a="http://schemas.openxmlformats.org/drawingml/2006/main">
            <a:r>
              <a:rPr lang="en-US" sz="1300" b="0">
                <a:solidFill>
                  <a:srgbClr val="FFFFFF"/>
                </a:solidFill>
                <a:latin typeface="Calibri"/>
                <a:ea typeface="Calibri"/>
              </a:rPr>
              <a:t>Prompt</a:t>
            </a:r>
          </a:p>
          <a:p xmlns:a="http://schemas.openxmlformats.org/drawingml/2006/main">
            <a:r>
              <a:rPr lang="en-US" sz="1300" b="0">
                <a:solidFill>
                  <a:srgbClr val="FFFFFF"/>
                </a:solidFill>
                <a:latin typeface="Calibri"/>
                <a:ea typeface="Calibri"/>
              </a:rPr>
              <a:t>Engineering</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prompts.py</a:t>
            </a:r>
          </a:p>
          <a:p xmlns:a="http://schemas.openxmlformats.org/drawingml/2006/main">
            <a:r>
              <a:rPr lang="en-US" sz="1300" b="0">
                <a:solidFill>
                  <a:srgbClr val="FFFFFF"/>
                </a:solidFill>
                <a:latin typeface="Calibri"/>
                <a:ea typeface="Calibri"/>
              </a:rPr>
              <a:t>Structured prompt</a:t>
            </a:r>
          </a:p>
          <a:p xmlns:a="http://schemas.openxmlformats.org/drawingml/2006/main">
            <a:r>
              <a:rPr lang="en-US" sz="1300" b="0">
                <a:solidFill>
                  <a:srgbClr val="FFFFFF"/>
                </a:solidFill>
                <a:latin typeface="Calibri"/>
                <a:ea typeface="Calibri"/>
              </a:rPr>
              <a:t>User context</a:t>
            </a:r>
          </a:p>
          <a:p xmlns:a="http://schemas.openxmlformats.org/drawingml/2006/main">
            <a:r>
              <a:rPr lang="en-US" sz="1300" b="0">
                <a:solidFill>
                  <a:srgbClr val="FFFFFF"/>
                </a:solidFill>
                <a:latin typeface="Calibri"/>
                <a:ea typeface="Calibri"/>
              </a:rPr>
              <a:t>encoded in prompt</a:t>
            </a:r>
          </a:p>
        </p:txBody>
      </p:sp>
      <p:sp>
        <p:nvSpPr>
          <p:cNvPr id="100031" name="Ph4"/>
          <p:cNvSpPr txBox="1"/>
          <p:nvPr/>
        </p:nvSpPr>
        <p:spPr>
          <a:xfrm xmlns:a="http://schemas.openxmlformats.org/drawingml/2006/main">
            <a:off x="5220000" y="1188000"/>
            <a:ext cx="1512000" cy="3060000"/>
          </a:xfrm>
          <a:prstGeom xmlns:a="http://schemas.openxmlformats.org/drawingml/2006/main" prst="rect">
            <a:avLst/>
          </a:prstGeom>
          <a:solidFill xmlns:a="http://schemas.openxmlformats.org/drawingml/2006/main">
            <a:srgbClr val="E65100"/>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PHASE 4</a:t>
            </a:r>
          </a:p>
          <a:p xmlns:a="http://schemas.openxmlformats.org/drawingml/2006/main">
            <a:r>
              <a:rPr lang="en-US" sz="1300" b="0">
                <a:solidFill>
                  <a:srgbClr val="FFFFFF"/>
                </a:solidFill>
                <a:latin typeface="Calibri"/>
                <a:ea typeface="Calibri"/>
              </a:rPr>
              <a:t>Tool Use /</a:t>
            </a:r>
          </a:p>
          <a:p xmlns:a="http://schemas.openxmlformats.org/drawingml/2006/main">
            <a:r>
              <a:rPr lang="en-US" sz="1300" b="0">
                <a:solidFill>
                  <a:srgbClr val="FFFFFF"/>
                </a:solidFill>
                <a:latin typeface="Calibri"/>
                <a:ea typeface="Calibri"/>
              </a:rPr>
              <a:t>Action</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NutritionTools</a:t>
            </a:r>
          </a:p>
          <a:p xmlns:a="http://schemas.openxmlformats.org/drawingml/2006/main">
            <a:r>
              <a:rPr lang="en-US" sz="1300" b="0">
                <a:solidFill>
                  <a:srgbClr val="FFFFFF"/>
                </a:solidFill>
                <a:latin typeface="Calibri"/>
                <a:ea typeface="Calibri"/>
              </a:rPr>
              <a:t>BMI calculator</a:t>
            </a:r>
          </a:p>
          <a:p xmlns:a="http://schemas.openxmlformats.org/drawingml/2006/main">
            <a:r>
              <a:rPr lang="en-US" sz="1300" b="0">
                <a:solidFill>
                  <a:srgbClr val="FFFFFF"/>
                </a:solidFill>
                <a:latin typeface="Calibri"/>
                <a:ea typeface="Calibri"/>
              </a:rPr>
              <a:t>TDEE calculator</a:t>
            </a:r>
          </a:p>
          <a:p xmlns:a="http://schemas.openxmlformats.org/drawingml/2006/main">
            <a:r>
              <a:rPr lang="en-US" sz="1300" b="0">
                <a:solidFill>
                  <a:srgbClr val="FFFFFF"/>
                </a:solidFill>
                <a:latin typeface="Calibri"/>
                <a:ea typeface="Calibri"/>
              </a:rPr>
              <a:t>RDA lookup</a:t>
            </a:r>
          </a:p>
        </p:txBody>
      </p:sp>
      <p:sp>
        <p:nvSpPr>
          <p:cNvPr id="100032" name="Ph5"/>
          <p:cNvSpPr txBox="1"/>
          <p:nvPr/>
        </p:nvSpPr>
        <p:spPr>
          <a:xfrm xmlns:a="http://schemas.openxmlformats.org/drawingml/2006/main">
            <a:off x="6840000" y="1188000"/>
            <a:ext cx="1512000" cy="3060000"/>
          </a:xfrm>
          <a:prstGeom xmlns:a="http://schemas.openxmlformats.org/drawingml/2006/main" prst="rect">
            <a:avLst/>
          </a:prstGeom>
          <a:solidFill xmlns:a="http://schemas.openxmlformats.org/drawingml/2006/main">
            <a:srgbClr val="880E4F"/>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PHASE 5</a:t>
            </a:r>
          </a:p>
          <a:p xmlns:a="http://schemas.openxmlformats.org/drawingml/2006/main">
            <a:r>
              <a:rPr lang="en-US" sz="1300" b="0">
                <a:solidFill>
                  <a:srgbClr val="FFFFFF"/>
                </a:solidFill>
                <a:latin typeface="Calibri"/>
                <a:ea typeface="Calibri"/>
              </a:rPr>
              <a:t>LLM Inference</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granite_client.py</a:t>
            </a:r>
          </a:p>
          <a:p xmlns:a="http://schemas.openxmlformats.org/drawingml/2006/main">
            <a:r>
              <a:rPr lang="en-US" sz="1300" b="0">
                <a:solidFill>
                  <a:srgbClr val="FFFFFF"/>
                </a:solidFill>
                <a:latin typeface="Calibri"/>
                <a:ea typeface="Calibri"/>
              </a:rPr>
              <a:t>call_granite()</a:t>
            </a:r>
          </a:p>
          <a:p xmlns:a="http://schemas.openxmlformats.org/drawingml/2006/main">
            <a:r>
              <a:rPr lang="en-US" sz="1300" b="0">
                <a:solidFill>
                  <a:srgbClr val="FFFFFF"/>
                </a:solidFill>
                <a:latin typeface="Calibri"/>
                <a:ea typeface="Calibri"/>
              </a:rPr>
              <a:t>SDK or REST</a:t>
            </a:r>
          </a:p>
          <a:p xmlns:a="http://schemas.openxmlformats.org/drawingml/2006/main">
            <a:r>
              <a:rPr lang="en-US" sz="1300" b="0">
                <a:solidFill>
                  <a:srgbClr val="FFFFFF"/>
                </a:solidFill>
                <a:latin typeface="Calibri"/>
                <a:ea typeface="Calibri"/>
              </a:rPr>
              <a:t>fallback</a:t>
            </a:r>
          </a:p>
          <a:p xmlns:a="http://schemas.openxmlformats.org/drawingml/2006/main">
            <a:r>
              <a:rPr lang="en-US" sz="1300" b="0">
                <a:solidFill>
                  <a:srgbClr val="FFFFFF"/>
                </a:solidFill>
                <a:latin typeface="Calibri"/>
                <a:ea typeface="Calibri"/>
              </a:rPr>
              <a:t>Demo mode</a:t>
            </a:r>
          </a:p>
        </p:txBody>
      </p:sp>
      <p:sp>
        <p:nvSpPr>
          <p:cNvPr id="100033" name="Ph6"/>
          <p:cNvSpPr txBox="1"/>
          <p:nvPr/>
        </p:nvSpPr>
        <p:spPr>
          <a:xfrm xmlns:a="http://schemas.openxmlformats.org/drawingml/2006/main">
            <a:off x="8460000" y="1188000"/>
            <a:ext cx="1512000" cy="3060000"/>
          </a:xfrm>
          <a:prstGeom xmlns:a="http://schemas.openxmlformats.org/drawingml/2006/main" prst="rect">
            <a:avLst/>
          </a:prstGeom>
          <a:solidFill xmlns:a="http://schemas.openxmlformats.org/drawingml/2006/main">
            <a:srgbClr val="1B5E20"/>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PHASE 6</a:t>
            </a:r>
          </a:p>
          <a:p xmlns:a="http://schemas.openxmlformats.org/drawingml/2006/main">
            <a:r>
              <a:rPr lang="en-US" sz="1300" b="0">
                <a:solidFill>
                  <a:srgbClr val="FFFFFF"/>
                </a:solidFill>
                <a:latin typeface="Calibri"/>
                <a:ea typeface="Calibri"/>
              </a:rPr>
              <a:t>Reflection &amp;</a:t>
            </a:r>
          </a:p>
          <a:p xmlns:a="http://schemas.openxmlformats.org/drawingml/2006/main">
            <a:r>
              <a:rPr lang="en-US" sz="1300" b="0">
                <a:solidFill>
                  <a:srgbClr val="FFFFFF"/>
                </a:solidFill>
                <a:latin typeface="Calibri"/>
                <a:ea typeface="Calibri"/>
              </a:rPr>
              <a:t>Safety Check</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check_output</a:t>
            </a:r>
          </a:p>
          <a:p xmlns:a="http://schemas.openxmlformats.org/drawingml/2006/main">
            <a:r>
              <a:rPr lang="en-US" sz="1300" b="0">
                <a:solidFill>
                  <a:srgbClr val="FFFFFF"/>
                </a:solidFill>
                <a:latin typeface="Calibri"/>
                <a:ea typeface="Calibri"/>
              </a:rPr>
              <a:t>_safety()</a:t>
            </a:r>
          </a:p>
          <a:p xmlns:a="http://schemas.openxmlformats.org/drawingml/2006/main">
            <a:r>
              <a:rPr lang="en-US" sz="1300" b="0">
                <a:solidFill>
                  <a:srgbClr val="FFFFFF"/>
                </a:solidFill>
                <a:latin typeface="Calibri"/>
                <a:ea typeface="Calibri"/>
              </a:rPr>
              <a:t>Post-generation</a:t>
            </a:r>
          </a:p>
          <a:p xmlns:a="http://schemas.openxmlformats.org/drawingml/2006/main">
            <a:r>
              <a:rPr lang="en-US" sz="1300" b="0">
                <a:solidFill>
                  <a:srgbClr val="FFFFFF"/>
                </a:solidFill>
                <a:latin typeface="Calibri"/>
                <a:ea typeface="Calibri"/>
              </a:rPr>
              <a:t>scan</a:t>
            </a:r>
          </a:p>
          <a:p xmlns:a="http://schemas.openxmlformats.org/drawingml/2006/main">
            <a:r>
              <a:rPr lang="en-US" sz="1300" b="0">
                <a:solidFill>
                  <a:srgbClr val="FFFFFF"/>
                </a:solidFill>
                <a:latin typeface="Calibri"/>
                <a:ea typeface="Calibri"/>
              </a:rPr>
              <a:t>Harmful filter</a:t>
            </a:r>
          </a:p>
        </p:txBody>
      </p:sp>
      <p:sp>
        <p:nvSpPr>
          <p:cNvPr id="100034" name="Ph7"/>
          <p:cNvSpPr txBox="1"/>
          <p:nvPr/>
        </p:nvSpPr>
        <p:spPr>
          <a:xfrm xmlns:a="http://schemas.openxmlformats.org/drawingml/2006/main">
            <a:off x="10080000" y="1188000"/>
            <a:ext cx="1512000" cy="3060000"/>
          </a:xfrm>
          <a:prstGeom xmlns:a="http://schemas.openxmlformats.org/drawingml/2006/main" prst="rect">
            <a:avLst/>
          </a:prstGeom>
          <a:solidFill xmlns:a="http://schemas.openxmlformats.org/drawingml/2006/main">
            <a:srgbClr val="B71C1C"/>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PHASE 7</a:t>
            </a:r>
          </a:p>
          <a:p xmlns:a="http://schemas.openxmlformats.org/drawingml/2006/main">
            <a:r>
              <a:rPr lang="en-US" sz="1300" b="0">
                <a:solidFill>
                  <a:srgbClr val="FFFFFF"/>
                </a:solidFill>
                <a:latin typeface="Calibri"/>
                <a:ea typeface="Calibri"/>
              </a:rPr>
              <a:t>Response &amp;</a:t>
            </a:r>
          </a:p>
          <a:p xmlns:a="http://schemas.openxmlformats.org/drawingml/2006/main">
            <a:r>
              <a:rPr lang="en-US" sz="1300" b="0">
                <a:solidFill>
                  <a:srgbClr val="FFFFFF"/>
                </a:solidFill>
                <a:latin typeface="Calibri"/>
                <a:ea typeface="Calibri"/>
              </a:rPr>
              <a:t>Persistence</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append</a:t>
            </a:r>
          </a:p>
          <a:p xmlns:a="http://schemas.openxmlformats.org/drawingml/2006/main">
            <a:r>
              <a:rPr lang="en-US" sz="1300" b="0">
                <a:solidFill>
                  <a:srgbClr val="FFFFFF"/>
                </a:solidFill>
                <a:latin typeface="Calibri"/>
                <a:ea typeface="Calibri"/>
              </a:rPr>
              <a:t>_disclaimer()</a:t>
            </a:r>
          </a:p>
          <a:p xmlns:a="http://schemas.openxmlformats.org/drawingml/2006/main">
            <a:r>
              <a:rPr lang="en-US" sz="1300" b="0">
                <a:solidFill>
                  <a:srgbClr val="FFFFFF"/>
                </a:solidFill>
                <a:latin typeface="Calibri"/>
                <a:ea typeface="Calibri"/>
              </a:rPr>
              <a:t>Save .md file</a:t>
            </a:r>
          </a:p>
          <a:p xmlns:a="http://schemas.openxmlformats.org/drawingml/2006/main">
            <a:r>
              <a:rPr lang="en-US" sz="1300" b="0">
                <a:solidFill>
                  <a:srgbClr val="FFFFFF"/>
                </a:solidFill>
                <a:latin typeface="Calibri"/>
                <a:ea typeface="Calibri"/>
              </a:rPr>
              <a:t>Return JSON</a:t>
            </a:r>
          </a:p>
          <a:p xmlns:a="http://schemas.openxmlformats.org/drawingml/2006/main">
            <a:r>
              <a:rPr lang="en-US" sz="1300" b="0">
                <a:solidFill>
                  <a:srgbClr val="FFFFFF"/>
                </a:solidFill>
                <a:latin typeface="Calibri"/>
                <a:ea typeface="Calibri"/>
              </a:rPr>
              <a:t>to frontend</a:t>
            </a:r>
          </a:p>
        </p:txBody>
      </p:sp>
      <p:sp>
        <p:nvSpPr>
          <p:cNvPr id="100035" name="Arrow"/>
          <p:cNvSpPr txBox="1"/>
          <p:nvPr/>
        </p:nvSpPr>
        <p:spPr>
          <a:xfrm xmlns:a="http://schemas.openxmlformats.org/drawingml/2006/main">
            <a:off x="360000" y="4500000"/>
            <a:ext cx="11160000" cy="432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800" b="1">
                <a:solidFill>
                  <a:srgbClr val="0A1628"/>
                </a:solidFill>
                <a:latin typeface="Calibri"/>
                <a:ea typeface="Calibri"/>
              </a:rPr>
              <a:t>PERCEIVE  --&gt;  PLAN  --&gt;  ACT  --&gt;  REFLECT  --&gt;  RESPOND</a:t>
            </a:r>
          </a:p>
        </p:txBody>
      </p:sp>
    </p:spTree>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36"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37"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Key Features &amp; Capabilities</a:t>
            </a:r>
          </a:p>
        </p:txBody>
      </p:sp>
      <p:sp>
        <p:nvSpPr>
          <p:cNvPr id="100038"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04</a:t>
            </a:r>
          </a:p>
        </p:txBody>
      </p:sp>
      <p:sp>
        <p:nvSpPr>
          <p:cNvPr id="100039" name="F1"/>
          <p:cNvSpPr txBox="1"/>
          <p:nvPr/>
        </p:nvSpPr>
        <p:spPr>
          <a:xfrm xmlns:a="http://schemas.openxmlformats.org/drawingml/2006/main">
            <a:off x="360000" y="1188000"/>
            <a:ext cx="5400000" cy="126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IBM Granite LLM</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Powered by ibm/granite-13b-instruct-v2 on watsonx.ai</a:t>
            </a:r>
          </a:p>
          <a:p xmlns:a="http://schemas.openxmlformats.org/drawingml/2006/main">
            <a:r>
              <a:rPr lang="en-US" sz="1500" b="0">
                <a:solidFill>
                  <a:srgbClr val="1A1A2E"/>
                </a:solidFill>
                <a:latin typeface="Calibri"/>
                <a:ea typeface="Calibri"/>
              </a:rPr>
              <a:t>SDK + REST API fallback</a:t>
            </a:r>
          </a:p>
          <a:p xmlns:a="http://schemas.openxmlformats.org/drawingml/2006/main">
            <a:r>
              <a:rPr lang="en-US" sz="1500" b="0">
                <a:solidFill>
                  <a:srgbClr val="1A1A2E"/>
                </a:solidFill>
                <a:latin typeface="Calibri"/>
                <a:ea typeface="Calibri"/>
              </a:rPr>
              <a:t>Demo mode without API key</a:t>
            </a:r>
          </a:p>
        </p:txBody>
      </p:sp>
      <p:sp>
        <p:nvSpPr>
          <p:cNvPr id="100040" name="F2"/>
          <p:cNvSpPr txBox="1"/>
          <p:nvPr/>
        </p:nvSpPr>
        <p:spPr>
          <a:xfrm xmlns:a="http://schemas.openxmlformats.org/drawingml/2006/main">
            <a:off x="6120000" y="1188000"/>
            <a:ext cx="5400000" cy="126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Personalised 7-Day Plans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Tailored to: age, gender, diet, medical history, location, activity level, health goal, allergies</a:t>
            </a:r>
          </a:p>
        </p:txBody>
      </p:sp>
      <p:sp>
        <p:nvSpPr>
          <p:cNvPr id="100041" name="F3"/>
          <p:cNvSpPr txBox="1"/>
          <p:nvPr/>
        </p:nvSpPr>
        <p:spPr>
          <a:xfrm xmlns:a="http://schemas.openxmlformats.org/drawingml/2006/main">
            <a:off x="360000" y="2592000"/>
            <a:ext cx="5400000" cy="1260000"/>
          </a:xfrm>
          <a:prstGeom xmlns:a="http://schemas.openxmlformats.org/drawingml/2006/main" prst="rect">
            <a:avLst/>
          </a:prstGeom>
          <a:solidFill xmlns:a="http://schemas.openxmlformats.org/drawingml/2006/main">
            <a:srgbClr val="FFF3E0"/>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Medical Awareness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Adapts for: Diabetes, Blood Pressure, Thyroid, PCOS, High Cholesterol, Kidney Disease</a:t>
            </a:r>
          </a:p>
          <a:p xmlns:a="http://schemas.openxmlformats.org/drawingml/2006/main">
            <a:r>
              <a:rPr lang="en-US" sz="1500" b="0">
                <a:solidFill>
                  <a:srgbClr val="1A1A2E"/>
                </a:solidFill>
                <a:latin typeface="Calibri"/>
                <a:ea typeface="Calibri"/>
              </a:rPr>
              <a:t>Age-safe validation (5-110 yrs)</a:t>
            </a:r>
          </a:p>
        </p:txBody>
      </p:sp>
      <p:sp>
        <p:nvSpPr>
          <p:cNvPr id="100042" name="F4"/>
          <p:cNvSpPr txBox="1"/>
          <p:nvPr/>
        </p:nvSpPr>
        <p:spPr>
          <a:xfrm xmlns:a="http://schemas.openxmlformats.org/drawingml/2006/main">
            <a:off x="6120000" y="2592000"/>
            <a:ext cx="5400000" cy="126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Agentic Q&amp;A Chat</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Conversational nutrition assistant</a:t>
            </a:r>
          </a:p>
          <a:p xmlns:a="http://schemas.openxmlformats.org/drawingml/2006/main">
            <a:r>
              <a:rPr lang="en-US" sz="1500" b="0">
                <a:solidFill>
                  <a:srgbClr val="1A1A2E"/>
                </a:solidFill>
                <a:latin typeface="Calibri"/>
                <a:ea typeface="Calibri"/>
              </a:rPr>
              <a:t>Context memory (last 10 turns)</a:t>
            </a:r>
          </a:p>
          <a:p xmlns:a="http://schemas.openxmlformats.org/drawingml/2006/main">
            <a:r>
              <a:rPr lang="en-US" sz="1500" b="0">
                <a:solidFill>
                  <a:srgbClr val="1A1A2E"/>
                </a:solidFill>
                <a:latin typeface="Calibri"/>
                <a:ea typeface="Calibri"/>
              </a:rPr>
              <a:t>Input safety check on every query</a:t>
            </a:r>
          </a:p>
        </p:txBody>
      </p:sp>
      <p:sp>
        <p:nvSpPr>
          <p:cNvPr id="100043" name="F5"/>
          <p:cNvSpPr txBox="1"/>
          <p:nvPr/>
        </p:nvSpPr>
        <p:spPr>
          <a:xfrm xmlns:a="http://schemas.openxmlformats.org/drawingml/2006/main">
            <a:off x="360000" y="3996000"/>
            <a:ext cx="5400000" cy="1260000"/>
          </a:xfrm>
          <a:prstGeom xmlns:a="http://schemas.openxmlformats.org/drawingml/2006/main" prst="rect">
            <a:avLst/>
          </a:prstGeom>
          <a:solidFill xmlns:a="http://schemas.openxmlformats.org/drawingml/2006/main">
            <a:srgbClr val="E0F7FA"/>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BMI &amp; TDEE Calculator</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Mifflin-St Jeor equation</a:t>
            </a:r>
          </a:p>
          <a:p xmlns:a="http://schemas.openxmlformats.org/drawingml/2006/main">
            <a:r>
              <a:rPr lang="en-US" sz="1500" b="0">
                <a:solidFill>
                  <a:srgbClr val="1A1A2E"/>
                </a:solidFill>
                <a:latin typeface="Calibri"/>
                <a:ea typeface="Calibri"/>
              </a:rPr>
              <a:t>Activity multiplier (sedentary to very active)</a:t>
            </a:r>
          </a:p>
          <a:p xmlns:a="http://schemas.openxmlformats.org/drawingml/2006/main">
            <a:r>
              <a:rPr lang="en-US" sz="1500" b="0">
                <a:solidFill>
                  <a:srgbClr val="1A1A2E"/>
                </a:solidFill>
                <a:latin typeface="Calibri"/>
                <a:ea typeface="Calibri"/>
              </a:rPr>
              <a:t>Real-time BMI display in UI</a:t>
            </a:r>
          </a:p>
        </p:txBody>
      </p:sp>
      <p:sp>
        <p:nvSpPr>
          <p:cNvPr id="100044" name="F6"/>
          <p:cNvSpPr txBox="1"/>
          <p:nvPr/>
        </p:nvSpPr>
        <p:spPr>
          <a:xfrm xmlns:a="http://schemas.openxmlformats.org/drawingml/2006/main">
            <a:off x="6120000" y="3996000"/>
            <a:ext cx="5400000" cy="126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Save &amp; Download Plans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Auto-saves as .md Markdown files</a:t>
            </a:r>
          </a:p>
          <a:p xmlns:a="http://schemas.openxmlformats.org/drawingml/2006/main">
            <a:r>
              <a:rPr lang="en-US" sz="1500" b="0">
                <a:solidFill>
                  <a:srgbClr val="1A1A2E"/>
                </a:solidFill>
                <a:latin typeface="Calibri"/>
                <a:ea typeface="Calibri"/>
              </a:rPr>
              <a:t>Timestamped filenames</a:t>
            </a:r>
          </a:p>
          <a:p xmlns:a="http://schemas.openxmlformats.org/drawingml/2006/main">
            <a:r>
              <a:rPr lang="en-US" sz="1500" b="0">
                <a:solidFill>
                  <a:srgbClr val="1A1A2E"/>
                </a:solidFill>
                <a:latin typeface="Calibri"/>
                <a:ea typeface="Calibri"/>
              </a:rPr>
              <a:t>Browser download button</a:t>
            </a:r>
          </a:p>
          <a:p xmlns:a="http://schemas.openxmlformats.org/drawingml/2006/main">
            <a:r>
              <a:rPr lang="en-US" sz="1500" b="0">
                <a:solidFill>
                  <a:srgbClr val="1A1A2E"/>
                </a:solidFill>
                <a:latin typeface="Calibri"/>
                <a:ea typeface="Calibri"/>
              </a:rPr>
              <a:t>Saved Plans panel</a:t>
            </a:r>
          </a:p>
        </p:txBody>
      </p:sp>
    </p:spTree>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45"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46"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AI Guardrails &amp; Ethics — HAM Tone</a:t>
            </a:r>
          </a:p>
        </p:txBody>
      </p:sp>
      <p:sp>
        <p:nvSpPr>
          <p:cNvPr id="100047"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05</a:t>
            </a:r>
          </a:p>
        </p:txBody>
      </p:sp>
      <p:sp>
        <p:nvSpPr>
          <p:cNvPr id="100048" name="HAMBox"/>
          <p:cNvSpPr txBox="1"/>
          <p:nvPr/>
        </p:nvSpPr>
        <p:spPr>
          <a:xfrm xmlns:a="http://schemas.openxmlformats.org/drawingml/2006/main">
            <a:off x="360000" y="1188000"/>
            <a:ext cx="5580000" cy="2520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600" b="0">
                <a:solidFill>
                  <a:srgbClr val="FFFFFF"/>
                </a:solidFill>
                <a:latin typeface="Calibri"/>
                <a:ea typeface="Calibri"/>
              </a:rPr>
              <a:t>HAM TONE FRAMEWORK</a:t>
            </a:r>
          </a:p>
          <a:p xmlns:a="http://schemas.openxmlformats.org/drawingml/2006/main">
            <a:r>
              <a:rPr lang="en-US" sz="1600" b="0">
                <a:solidFill>
                  <a:srgbClr val="FFFFFF"/>
                </a:solidFill>
                <a:latin typeface="Calibri"/>
                <a:ea typeface="Calibri"/>
              </a:rPr>
              <a:t/>
            </a:r>
          </a:p>
          <a:p xmlns:a="http://schemas.openxmlformats.org/drawingml/2006/main">
            <a:r>
              <a:rPr lang="en-US" sz="1600" b="0">
                <a:solidFill>
                  <a:srgbClr val="FFFFFF"/>
                </a:solidFill>
                <a:latin typeface="Calibri"/>
                <a:ea typeface="Calibri"/>
              </a:rPr>
              <a:t>HELPFUL — Compassionate, warm responses that genuinely assist the user</a:t>
            </a:r>
          </a:p>
          <a:p xmlns:a="http://schemas.openxmlformats.org/drawingml/2006/main">
            <a:r>
              <a:rPr lang="en-US" sz="1600" b="0">
                <a:solidFill>
                  <a:srgbClr val="FFFFFF"/>
                </a:solidFill>
                <a:latin typeface="Calibri"/>
                <a:ea typeface="Calibri"/>
              </a:rPr>
              <a:t/>
            </a:r>
          </a:p>
          <a:p xmlns:a="http://schemas.openxmlformats.org/drawingml/2006/main">
            <a:r>
              <a:rPr lang="en-US" sz="1600" b="0">
                <a:solidFill>
                  <a:srgbClr val="FFFFFF"/>
                </a:solidFill>
                <a:latin typeface="Calibri"/>
                <a:ea typeface="Calibri"/>
              </a:rPr>
              <a:t>ACCURATE — Evidence-based, WHO/ICMR guideline aligned information only</a:t>
            </a:r>
          </a:p>
          <a:p xmlns:a="http://schemas.openxmlformats.org/drawingml/2006/main">
            <a:r>
              <a:rPr lang="en-US" sz="1600" b="0">
                <a:solidFill>
                  <a:srgbClr val="FFFFFF"/>
                </a:solidFill>
                <a:latin typeface="Calibri"/>
                <a:ea typeface="Calibri"/>
              </a:rPr>
              <a:t/>
            </a:r>
          </a:p>
          <a:p xmlns:a="http://schemas.openxmlformats.org/drawingml/2006/main">
            <a:r>
              <a:rPr lang="en-US" sz="1600" b="0">
                <a:solidFill>
                  <a:srgbClr val="FFFFFF"/>
                </a:solidFill>
                <a:latin typeface="Calibri"/>
                <a:ea typeface="Calibri"/>
              </a:rPr>
              <a:t>MINDFUL — Avoids triggering disordered eating, respects individual differences</a:t>
            </a:r>
          </a:p>
        </p:txBody>
      </p:sp>
      <p:sp>
        <p:nvSpPr>
          <p:cNvPr id="100049" name="InputGuard"/>
          <p:cNvSpPr txBox="1"/>
          <p:nvPr/>
        </p:nvSpPr>
        <p:spPr>
          <a:xfrm xmlns:a="http://schemas.openxmlformats.org/drawingml/2006/main">
            <a:off x="6120000" y="1188000"/>
            <a:ext cx="5400000" cy="2520000"/>
          </a:xfrm>
          <a:prstGeom xmlns:a="http://schemas.openxmlformats.org/drawingml/2006/main" prst="rect">
            <a:avLst/>
          </a:prstGeom>
          <a:solidFill xmlns:a="http://schemas.openxmlformats.org/drawingml/2006/main">
            <a:srgbClr val="FFF8F0"/>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INPUT GUARDRAILS  (guardrails.py)</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Blocked patterns:</a:t>
            </a:r>
          </a:p>
          <a:p xmlns:a="http://schemas.openxmlformats.org/drawingml/2006/main">
            <a:r>
              <a:rPr lang="en-US" sz="1500" b="0">
                <a:solidFill>
                  <a:srgbClr val="1A1A2E"/>
                </a:solidFill>
                <a:latin typeface="Calibri"/>
                <a:ea typeface="Calibri"/>
              </a:rPr>
              <a:t>  Crash diets / extreme fasting</a:t>
            </a:r>
          </a:p>
          <a:p xmlns:a="http://schemas.openxmlformats.org/drawingml/2006/main">
            <a:r>
              <a:rPr lang="en-US" sz="1500" b="0">
                <a:solidFill>
                  <a:srgbClr val="1A1A2E"/>
                </a:solidFill>
                <a:latin typeface="Calibri"/>
                <a:ea typeface="Calibri"/>
              </a:rPr>
              <a:t>  Eating disorder triggers (purge, binge)</a:t>
            </a:r>
          </a:p>
          <a:p xmlns:a="http://schemas.openxmlformats.org/drawingml/2006/main">
            <a:r>
              <a:rPr lang="en-US" sz="1500" b="0">
                <a:solidFill>
                  <a:srgbClr val="1A1A2E"/>
                </a:solidFill>
                <a:latin typeface="Calibri"/>
                <a:ea typeface="Calibri"/>
              </a:rPr>
              <a:t>  Medication overrides (stop insulin)</a:t>
            </a:r>
          </a:p>
          <a:p xmlns:a="http://schemas.openxmlformats.org/drawingml/2006/main">
            <a:r>
              <a:rPr lang="en-US" sz="1500" b="0">
                <a:solidFill>
                  <a:srgbClr val="1A1A2E"/>
                </a:solidFill>
                <a:latin typeface="Calibri"/>
                <a:ea typeface="Calibri"/>
              </a:rPr>
              <a:t>  False cure claims (cure diabetes)</a:t>
            </a:r>
          </a:p>
          <a:p xmlns:a="http://schemas.openxmlformats.org/drawingml/2006/main">
            <a:r>
              <a:rPr lang="en-US" sz="1500" b="0">
                <a:solidFill>
                  <a:srgbClr val="1A1A2E"/>
                </a:solidFill>
                <a:latin typeface="Calibri"/>
                <a:ea typeface="Calibri"/>
              </a:rPr>
              <a:t>  Unrealistic weight loss (20kg in 3 days)</a:t>
            </a:r>
          </a:p>
          <a:p xmlns:a="http://schemas.openxmlformats.org/drawingml/2006/main">
            <a:r>
              <a:rPr lang="en-US" sz="1500" b="0">
                <a:solidFill>
                  <a:srgbClr val="1A1A2E"/>
                </a:solidFill>
                <a:latin typeface="Calibri"/>
                <a:ea typeface="Calibri"/>
              </a:rPr>
              <a:t>  Self-harm related content</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Age validation: 5 - 110 years only</a:t>
            </a:r>
          </a:p>
        </p:txBody>
      </p:sp>
      <p:sp>
        <p:nvSpPr>
          <p:cNvPr id="100050" name="OutputGuard"/>
          <p:cNvSpPr txBox="1"/>
          <p:nvPr/>
        </p:nvSpPr>
        <p:spPr>
          <a:xfrm xmlns:a="http://schemas.openxmlformats.org/drawingml/2006/main">
            <a:off x="360000" y="3960000"/>
            <a:ext cx="5580000" cy="18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OUTPUT GUARDRAILS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Post-generation scan on every LLM response</a:t>
            </a:r>
          </a:p>
          <a:p xmlns:a="http://schemas.openxmlformats.org/drawingml/2006/main">
            <a:r>
              <a:rPr lang="en-US" sz="1500" b="0">
                <a:solidFill>
                  <a:srgbClr val="1A1A2E"/>
                </a:solidFill>
                <a:latin typeface="Calibri"/>
                <a:ea typeface="Calibri"/>
              </a:rPr>
              <a:t>Same pattern matching on AI output</a:t>
            </a:r>
          </a:p>
          <a:p xmlns:a="http://schemas.openxmlformats.org/drawingml/2006/main">
            <a:r>
              <a:rPr lang="en-US" sz="1500" b="0">
                <a:solidFill>
                  <a:srgbClr val="1A1A2E"/>
                </a:solidFill>
                <a:latin typeface="Calibri"/>
                <a:ea typeface="Calibri"/>
              </a:rPr>
              <a:t>Blocks unsafe content before delivery</a:t>
            </a:r>
          </a:p>
          <a:p xmlns:a="http://schemas.openxmlformats.org/drawingml/2006/main">
            <a:r>
              <a:rPr lang="en-US" sz="1500" b="0">
                <a:solidFill>
                  <a:srgbClr val="1A1A2E"/>
                </a:solidFill>
                <a:latin typeface="Calibri"/>
                <a:ea typeface="Calibri"/>
              </a:rPr>
              <a:t>Medical disclaimer auto-appended</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Code:  check_output_safety(llm_response)</a:t>
            </a:r>
          </a:p>
        </p:txBody>
      </p:sp>
      <p:sp>
        <p:nvSpPr>
          <p:cNvPr id="100051" name="EthicsBox"/>
          <p:cNvSpPr txBox="1"/>
          <p:nvPr/>
        </p:nvSpPr>
        <p:spPr>
          <a:xfrm xmlns:a="http://schemas.openxmlformats.org/drawingml/2006/main">
            <a:off x="6120000" y="3960000"/>
            <a:ext cx="5400000" cy="180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AI ETHICS PRINCIPLES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No Medical Diagnosis — system explicitly</a:t>
            </a:r>
          </a:p>
          <a:p xmlns:a="http://schemas.openxmlformats.org/drawingml/2006/main">
            <a:r>
              <a:rPr lang="en-US" sz="1500" b="0">
                <a:solidFill>
                  <a:srgbClr val="1A1A2E"/>
                </a:solidFill>
                <a:latin typeface="Calibri"/>
                <a:ea typeface="Calibri"/>
              </a:rPr>
              <a:t>  avoids diagnoses and medication changes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No False Cures — never claims to cure</a:t>
            </a:r>
          </a:p>
          <a:p xmlns:a="http://schemas.openxmlformats.org/drawingml/2006/main">
            <a:r>
              <a:rPr lang="en-US" sz="1500" b="0">
                <a:solidFill>
                  <a:srgbClr val="1A1A2E"/>
                </a:solidFill>
                <a:latin typeface="Calibri"/>
                <a:ea typeface="Calibri"/>
              </a:rPr>
              <a:t>  any medical condition</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Transparency — always identifies as AI</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Privacy — no user data stored server-side</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Human Oversight — recommends consulting</a:t>
            </a:r>
          </a:p>
          <a:p xmlns:a="http://schemas.openxmlformats.org/drawingml/2006/main">
            <a:r>
              <a:rPr lang="en-US" sz="1500" b="0">
                <a:solidFill>
                  <a:srgbClr val="1A1A2E"/>
                </a:solidFill>
                <a:latin typeface="Calibri"/>
                <a:ea typeface="Calibri"/>
              </a:rPr>
              <a:t>  registered dietitian for all plans</a:t>
            </a:r>
          </a:p>
        </p:txBody>
      </p:sp>
    </p:spTree>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2"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53"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Sample Nutrition Plan Output</a:t>
            </a:r>
          </a:p>
        </p:txBody>
      </p:sp>
      <p:sp>
        <p:nvSpPr>
          <p:cNvPr id="100054"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06</a:t>
            </a:r>
          </a:p>
        </p:txBody>
      </p:sp>
      <p:sp>
        <p:nvSpPr>
          <p:cNvPr id="100055" name="Source"/>
          <p:cNvSpPr txBox="1"/>
          <p:nvPr/>
        </p:nvSpPr>
        <p:spPr>
          <a:xfrm xmlns:a="http://schemas.openxmlformats.org/drawingml/2006/main">
            <a:off x="360000" y="1080000"/>
            <a:ext cx="11160000" cy="28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Source: plans/sample_nutrition_plan_demo.md  |  Generated: January 15, 2025  |  Profile: Female, 32 yrs, Vegetarian, Moderate Activity, Weight Management</a:t>
            </a:r>
          </a:p>
        </p:txBody>
      </p:sp>
      <p:sp>
        <p:nvSpPr>
          <p:cNvPr id="100056" name="TargetBox"/>
          <p:cNvSpPr txBox="1"/>
          <p:nvPr/>
        </p:nvSpPr>
        <p:spPr>
          <a:xfrm xmlns:a="http://schemas.openxmlformats.org/drawingml/2006/main">
            <a:off x="360000" y="1512000"/>
            <a:ext cx="11160000" cy="180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600" b="0">
                <a:solidFill>
                  <a:srgbClr val="1A1A2E"/>
                </a:solidFill>
                <a:latin typeface="Calibri"/>
                <a:ea typeface="Calibri"/>
              </a:rPr>
              <a:t>DAILY CALORIC TARGET: ~1,800 kcal/day</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MACRONUTRIENT BREAKDOWN</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Carbohydrates  45%  ~200g  |  Brown rice, oats, quinoa, sweet potato</a:t>
            </a:r>
          </a:p>
          <a:p xmlns:a="http://schemas.openxmlformats.org/drawingml/2006/main">
            <a:r>
              <a:rPr lang="en-US" sz="1600" b="0">
                <a:solidFill>
                  <a:srgbClr val="1A1A2E"/>
                </a:solidFill>
                <a:latin typeface="Calibri"/>
                <a:ea typeface="Calibri"/>
              </a:rPr>
              <a:t>Protein          30%  ~135g  |  Lentils, paneer, chickpeas, tofu, Greek yogurt</a:t>
            </a:r>
          </a:p>
          <a:p xmlns:a="http://schemas.openxmlformats.org/drawingml/2006/main">
            <a:r>
              <a:rPr lang="en-US" sz="1600" b="0">
                <a:solidFill>
                  <a:srgbClr val="1A1A2E"/>
                </a:solidFill>
                <a:latin typeface="Calibri"/>
                <a:ea typeface="Calibri"/>
              </a:rPr>
              <a:t>Healthy Fats   25%  ~50g   |  Nuts, seeds, olive oil, avocado</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Fibre: &gt;= 30g/day   |   Water: 2.5 L/day</a:t>
            </a:r>
          </a:p>
        </p:txBody>
      </p:sp>
      <p:sp>
        <p:nvSpPr>
          <p:cNvPr id="100057" name="HydrationBox"/>
          <p:cNvSpPr txBox="1"/>
          <p:nvPr/>
        </p:nvSpPr>
        <p:spPr>
          <a:xfrm xmlns:a="http://schemas.openxmlformats.org/drawingml/2006/main">
            <a:off x="360000" y="3420000"/>
            <a:ext cx="5220000" cy="1800000"/>
          </a:xfrm>
          <a:prstGeom xmlns:a="http://schemas.openxmlformats.org/drawingml/2006/main" prst="rect">
            <a:avLst/>
          </a:prstGeom>
          <a:solidFill xmlns:a="http://schemas.openxmlformats.org/drawingml/2006/main">
            <a:srgbClr val="E0F7FA"/>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HYDRATION GUIDELINES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Water: 10-12 glasses (2.5 litres/day) — start with a glass on waking</a:t>
            </a:r>
          </a:p>
          <a:p xmlns:a="http://schemas.openxmlformats.org/drawingml/2006/main">
            <a:r>
              <a:rPr lang="en-US" sz="1500" b="0">
                <a:solidFill>
                  <a:srgbClr val="1A1A2E"/>
                </a:solidFill>
                <a:latin typeface="Calibri"/>
                <a:ea typeface="Calibri"/>
              </a:rPr>
              <a:t>Herbal Teas: Green tea, chamomile, tulsi — 2 cups/day (no sugar)</a:t>
            </a:r>
          </a:p>
          <a:p xmlns:a="http://schemas.openxmlformats.org/drawingml/2006/main">
            <a:r>
              <a:rPr lang="en-US" sz="1500" b="0">
                <a:solidFill>
                  <a:srgbClr val="1A1A2E"/>
                </a:solidFill>
                <a:latin typeface="Calibri"/>
                <a:ea typeface="Calibri"/>
              </a:rPr>
              <a:t>Avoid: Sugary drinks, packaged juices, excessive caffeine (&gt;2 cups/day)</a:t>
            </a:r>
          </a:p>
          <a:p xmlns:a="http://schemas.openxmlformats.org/drawingml/2006/main">
            <a:r>
              <a:rPr lang="en-US" sz="1500" b="0">
                <a:solidFill>
                  <a:srgbClr val="1A1A2E"/>
                </a:solidFill>
                <a:latin typeface="Calibri"/>
                <a:ea typeface="Calibri"/>
              </a:rPr>
              <a:t>Timing: Drink water 30 minutes before meals to support digestion</a:t>
            </a:r>
          </a:p>
        </p:txBody>
      </p:sp>
      <p:sp>
        <p:nvSpPr>
          <p:cNvPr id="100058" name="LifestyleBox"/>
          <p:cNvSpPr txBox="1"/>
          <p:nvPr/>
        </p:nvSpPr>
        <p:spPr>
          <a:xfrm xmlns:a="http://schemas.openxmlformats.org/drawingml/2006/main">
            <a:off x="5760000" y="3420000"/>
            <a:ext cx="5580000" cy="18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LIFESTYLE &amp; EXERCISE</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1. Aerobic: 30-45 min, 5 days/week</a:t>
            </a:r>
          </a:p>
          <a:p xmlns:a="http://schemas.openxmlformats.org/drawingml/2006/main">
            <a:r>
              <a:rPr lang="en-US" sz="1500" b="0">
                <a:solidFill>
                  <a:srgbClr val="1A1A2E"/>
                </a:solidFill>
                <a:latin typeface="Calibri"/>
                <a:ea typeface="Calibri"/>
              </a:rPr>
              <a:t>   (walking, cycling, swimming)</a:t>
            </a:r>
          </a:p>
          <a:p xmlns:a="http://schemas.openxmlformats.org/drawingml/2006/main">
            <a:r>
              <a:rPr lang="en-US" sz="1500" b="0">
                <a:solidFill>
                  <a:srgbClr val="1A1A2E"/>
                </a:solidFill>
                <a:latin typeface="Calibri"/>
                <a:ea typeface="Calibri"/>
              </a:rPr>
              <a:t>2. Strength training: 2-3 days/week</a:t>
            </a:r>
          </a:p>
          <a:p xmlns:a="http://schemas.openxmlformats.org/drawingml/2006/main">
            <a:r>
              <a:rPr lang="en-US" sz="1500" b="0">
                <a:solidFill>
                  <a:srgbClr val="1A1A2E"/>
                </a:solidFill>
                <a:latin typeface="Calibri"/>
                <a:ea typeface="Calibri"/>
              </a:rPr>
              <a:t>3. Meal timing: Every 3-4 hours</a:t>
            </a:r>
          </a:p>
          <a:p xmlns:a="http://schemas.openxmlformats.org/drawingml/2006/main">
            <a:r>
              <a:rPr lang="en-US" sz="1500" b="0">
                <a:solidFill>
                  <a:srgbClr val="1A1A2E"/>
                </a:solidFill>
                <a:latin typeface="Calibri"/>
                <a:ea typeface="Calibri"/>
              </a:rPr>
              <a:t>4. Mindful eating: No screens at meals</a:t>
            </a:r>
          </a:p>
          <a:p xmlns:a="http://schemas.openxmlformats.org/drawingml/2006/main">
            <a:r>
              <a:rPr lang="en-US" sz="1500" b="0">
                <a:solidFill>
                  <a:srgbClr val="1A1A2E"/>
                </a:solidFill>
                <a:latin typeface="Calibri"/>
                <a:ea typeface="Calibri"/>
              </a:rPr>
              <a:t>5. Sleep: 7-8 hours nightly</a:t>
            </a:r>
          </a:p>
          <a:p xmlns:a="http://schemas.openxmlformats.org/drawingml/2006/main">
            <a:r>
              <a:rPr lang="en-US" sz="1500" b="0">
                <a:solidFill>
                  <a:srgbClr val="1A1A2E"/>
                </a:solidFill>
                <a:latin typeface="Calibri"/>
                <a:ea typeface="Calibri"/>
              </a:rPr>
              <a:t>6. Stress: Yoga/meditation 15 min/day</a:t>
            </a:r>
          </a:p>
        </p:txBody>
      </p:sp>
    </p:spTree>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59"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60"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7-Day Meal Plan — Sample Output</a:t>
            </a:r>
          </a:p>
        </p:txBody>
      </p:sp>
      <p:sp>
        <p:nvSpPr>
          <p:cNvPr id="100061"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07</a:t>
            </a:r>
          </a:p>
        </p:txBody>
      </p:sp>
      <p:sp>
        <p:nvSpPr>
          <p:cNvPr id="100062" name="Day1"/>
          <p:cNvSpPr txBox="1"/>
          <p:nvPr/>
        </p:nvSpPr>
        <p:spPr>
          <a:xfrm xmlns:a="http://schemas.openxmlformats.org/drawingml/2006/main">
            <a:off x="360000" y="1188000"/>
            <a:ext cx="3780000" cy="180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alibri"/>
                <a:ea typeface="Calibri"/>
              </a:rPr>
              <a:t>MON</a:t>
            </a:r>
          </a:p>
          <a:p xmlns:a="http://schemas.openxmlformats.org/drawingml/2006/main">
            <a:r>
              <a:rPr lang="en-US" sz="1200" b="0">
                <a:solidFill>
                  <a:srgbClr val="1A1A2E"/>
                </a:solidFill>
                <a:latin typeface="Calibri"/>
                <a:ea typeface="Calibri"/>
              </a:rPr>
              <a:t>Breakfast: Oatmeal, banana, chia, almond milk  380</a:t>
            </a:r>
          </a:p>
          <a:p xmlns:a="http://schemas.openxmlformats.org/drawingml/2006/main">
            <a:r>
              <a:rPr lang="en-US" sz="1200" b="0">
                <a:solidFill>
                  <a:srgbClr val="1A1A2E"/>
                </a:solidFill>
                <a:latin typeface="Calibri"/>
                <a:ea typeface="Calibri"/>
              </a:rPr>
              <a:t>Mid-Morning: Mixed nuts + apple  180</a:t>
            </a:r>
          </a:p>
          <a:p xmlns:a="http://schemas.openxmlformats.org/drawingml/2006/main">
            <a:r>
              <a:rPr lang="en-US" sz="1200" b="0">
                <a:solidFill>
                  <a:srgbClr val="1A1A2E"/>
                </a:solidFill>
                <a:latin typeface="Calibri"/>
                <a:ea typeface="Calibri"/>
              </a:rPr>
              <a:t>Lunch: Brown rice + dal + sabzi + salad  520</a:t>
            </a:r>
          </a:p>
          <a:p xmlns:a="http://schemas.openxmlformats.org/drawingml/2006/main">
            <a:r>
              <a:rPr lang="en-US" sz="1200" b="0">
                <a:solidFill>
                  <a:srgbClr val="1A1A2E"/>
                </a:solidFill>
                <a:latin typeface="Calibri"/>
                <a:ea typeface="Calibri"/>
              </a:rPr>
              <a:t>Snack: Hummus with carrot/cucumber  150</a:t>
            </a:r>
          </a:p>
          <a:p xmlns:a="http://schemas.openxmlformats.org/drawingml/2006/main">
            <a:r>
              <a:rPr lang="en-US" sz="1200" b="0">
                <a:solidFill>
                  <a:srgbClr val="1A1A2E"/>
                </a:solidFill>
                <a:latin typeface="Calibri"/>
                <a:ea typeface="Calibri"/>
              </a:rPr>
              <a:t>Dinner: Paneer tikka + quinoa + greens  450</a:t>
            </a:r>
          </a:p>
          <a:p xmlns:a="http://schemas.openxmlformats.org/drawingml/2006/main">
            <a:r>
              <a:rPr lang="en-US" sz="1200" b="0">
                <a:solidFill>
                  <a:srgbClr val="1A1A2E"/>
                </a:solidFill>
                <a:latin typeface="Calibri"/>
                <a:ea typeface="Calibri"/>
              </a:rPr>
              <a:t>TOTAL: 1,680 kcal</a:t>
            </a:r>
          </a:p>
        </p:txBody>
      </p:sp>
      <p:sp>
        <p:nvSpPr>
          <p:cNvPr id="100063" name="Day2"/>
          <p:cNvSpPr txBox="1"/>
          <p:nvPr/>
        </p:nvSpPr>
        <p:spPr>
          <a:xfrm xmlns:a="http://schemas.openxmlformats.org/drawingml/2006/main">
            <a:off x="4320000" y="1188000"/>
            <a:ext cx="3780000" cy="18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alibri"/>
                <a:ea typeface="Calibri"/>
              </a:rPr>
              <a:t>TUE</a:t>
            </a:r>
          </a:p>
          <a:p xmlns:a="http://schemas.openxmlformats.org/drawingml/2006/main">
            <a:r>
              <a:rPr lang="en-US" sz="1200" b="0">
                <a:solidFill>
                  <a:srgbClr val="1A1A2E"/>
                </a:solidFill>
                <a:latin typeface="Calibri"/>
                <a:ea typeface="Calibri"/>
              </a:rPr>
              <a:t>Breakfast: Veg upma + coconut chutney  340</a:t>
            </a:r>
          </a:p>
          <a:p xmlns:a="http://schemas.openxmlformats.org/drawingml/2006/main">
            <a:r>
              <a:rPr lang="en-US" sz="1200" b="0">
                <a:solidFill>
                  <a:srgbClr val="1A1A2E"/>
                </a:solidFill>
                <a:latin typeface="Calibri"/>
                <a:ea typeface="Calibri"/>
              </a:rPr>
              <a:t>Mid-Morning: Greek yogurt + berries  160</a:t>
            </a:r>
          </a:p>
          <a:p xmlns:a="http://schemas.openxmlformats.org/drawingml/2006/main">
            <a:r>
              <a:rPr lang="en-US" sz="1200" b="0">
                <a:solidFill>
                  <a:srgbClr val="1A1A2E"/>
                </a:solidFill>
                <a:latin typeface="Calibri"/>
                <a:ea typeface="Calibri"/>
              </a:rPr>
              <a:t>Lunch: Whole wheat roti + palak paneer + raita  540</a:t>
            </a:r>
          </a:p>
          <a:p xmlns:a="http://schemas.openxmlformats.org/drawingml/2006/main">
            <a:r>
              <a:rPr lang="en-US" sz="1200" b="0">
                <a:solidFill>
                  <a:srgbClr val="1A1A2E"/>
                </a:solidFill>
                <a:latin typeface="Calibri"/>
                <a:ea typeface="Calibri"/>
              </a:rPr>
              <a:t>Snack: Roasted chana + masala chai  130</a:t>
            </a:r>
          </a:p>
          <a:p xmlns:a="http://schemas.openxmlformats.org/drawingml/2006/main">
            <a:r>
              <a:rPr lang="en-US" sz="1200" b="0">
                <a:solidFill>
                  <a:srgbClr val="1A1A2E"/>
                </a:solidFill>
                <a:latin typeface="Calibri"/>
                <a:ea typeface="Calibri"/>
              </a:rPr>
              <a:t>Dinner: Moong dal khichdi + papad  430</a:t>
            </a:r>
          </a:p>
          <a:p xmlns:a="http://schemas.openxmlformats.org/drawingml/2006/main">
            <a:r>
              <a:rPr lang="en-US" sz="1200" b="0">
                <a:solidFill>
                  <a:srgbClr val="1A1A2E"/>
                </a:solidFill>
                <a:latin typeface="Calibri"/>
                <a:ea typeface="Calibri"/>
              </a:rPr>
              <a:t>TOTAL: 1,600 kcal</a:t>
            </a:r>
          </a:p>
        </p:txBody>
      </p:sp>
      <p:sp>
        <p:nvSpPr>
          <p:cNvPr id="100064" name="Day3"/>
          <p:cNvSpPr txBox="1"/>
          <p:nvPr/>
        </p:nvSpPr>
        <p:spPr>
          <a:xfrm xmlns:a="http://schemas.openxmlformats.org/drawingml/2006/main">
            <a:off x="8280000" y="1188000"/>
            <a:ext cx="3780000" cy="1800000"/>
          </a:xfrm>
          <a:prstGeom xmlns:a="http://schemas.openxmlformats.org/drawingml/2006/main" prst="rect">
            <a:avLst/>
          </a:prstGeom>
          <a:solidFill xmlns:a="http://schemas.openxmlformats.org/drawingml/2006/main">
            <a:srgbClr val="FFF3E0"/>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alibri"/>
                <a:ea typeface="Calibri"/>
              </a:rPr>
              <a:t>WED</a:t>
            </a:r>
          </a:p>
          <a:p xmlns:a="http://schemas.openxmlformats.org/drawingml/2006/main">
            <a:r>
              <a:rPr lang="en-US" sz="1200" b="0">
                <a:solidFill>
                  <a:srgbClr val="1A1A2E"/>
                </a:solidFill>
                <a:latin typeface="Calibri"/>
                <a:ea typeface="Calibri"/>
              </a:rPr>
              <a:t>Breakfast: Besan chilla + mint chutney  320</a:t>
            </a:r>
          </a:p>
          <a:p xmlns:a="http://schemas.openxmlformats.org/drawingml/2006/main">
            <a:r>
              <a:rPr lang="en-US" sz="1200" b="0">
                <a:solidFill>
                  <a:srgbClr val="1A1A2E"/>
                </a:solidFill>
                <a:latin typeface="Calibri"/>
                <a:ea typeface="Calibri"/>
              </a:rPr>
              <a:t>Mid-Morning: Seasonal fruit bowl  120</a:t>
            </a:r>
          </a:p>
          <a:p xmlns:a="http://schemas.openxmlformats.org/drawingml/2006/main">
            <a:r>
              <a:rPr lang="en-US" sz="1200" b="0">
                <a:solidFill>
                  <a:srgbClr val="1A1A2E"/>
                </a:solidFill>
                <a:latin typeface="Calibri"/>
                <a:ea typeface="Calibri"/>
              </a:rPr>
              <a:t>Lunch: Veg biryani + boondi raita  560</a:t>
            </a:r>
          </a:p>
          <a:p xmlns:a="http://schemas.openxmlformats.org/drawingml/2006/main">
            <a:r>
              <a:rPr lang="en-US" sz="1200" b="0">
                <a:solidFill>
                  <a:srgbClr val="1A1A2E"/>
                </a:solidFill>
                <a:latin typeface="Calibri"/>
                <a:ea typeface="Calibri"/>
              </a:rPr>
              <a:t>Snack: Makhana (fox nuts) roasted  100</a:t>
            </a:r>
          </a:p>
          <a:p xmlns:a="http://schemas.openxmlformats.org/drawingml/2006/main">
            <a:r>
              <a:rPr lang="en-US" sz="1200" b="0">
                <a:solidFill>
                  <a:srgbClr val="1A1A2E"/>
                </a:solidFill>
                <a:latin typeface="Calibri"/>
                <a:ea typeface="Calibri"/>
              </a:rPr>
              <a:t>Dinner: Tofu stir-fry + whole wheat roti  460</a:t>
            </a:r>
          </a:p>
          <a:p xmlns:a="http://schemas.openxmlformats.org/drawingml/2006/main">
            <a:r>
              <a:rPr lang="en-US" sz="1200" b="0">
                <a:solidFill>
                  <a:srgbClr val="1A1A2E"/>
                </a:solidFill>
                <a:latin typeface="Calibri"/>
                <a:ea typeface="Calibri"/>
              </a:rPr>
              <a:t>TOTAL: 1,560 kcal</a:t>
            </a:r>
          </a:p>
        </p:txBody>
      </p:sp>
      <p:sp>
        <p:nvSpPr>
          <p:cNvPr id="100065" name="Day4"/>
          <p:cNvSpPr txBox="1"/>
          <p:nvPr/>
        </p:nvSpPr>
        <p:spPr>
          <a:xfrm xmlns:a="http://schemas.openxmlformats.org/drawingml/2006/main">
            <a:off x="360000" y="3240000"/>
            <a:ext cx="3780000" cy="180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alibri"/>
                <a:ea typeface="Calibri"/>
              </a:rPr>
              <a:t>THU</a:t>
            </a:r>
          </a:p>
          <a:p xmlns:a="http://schemas.openxmlformats.org/drawingml/2006/main">
            <a:r>
              <a:rPr lang="en-US" sz="1200" b="0">
                <a:solidFill>
                  <a:srgbClr val="1A1A2E"/>
                </a:solidFill>
                <a:latin typeface="Calibri"/>
                <a:ea typeface="Calibri"/>
              </a:rPr>
              <a:t>Breakfast: Whole grain toast + avocado + egg whites  360</a:t>
            </a:r>
          </a:p>
          <a:p xmlns:a="http://schemas.openxmlformats.org/drawingml/2006/main">
            <a:r>
              <a:rPr lang="en-US" sz="1200" b="0">
                <a:solidFill>
                  <a:srgbClr val="1A1A2E"/>
                </a:solidFill>
                <a:latin typeface="Calibri"/>
                <a:ea typeface="Calibri"/>
              </a:rPr>
              <a:t>Mid-Morning: Walnuts + green tea  140</a:t>
            </a:r>
          </a:p>
          <a:p xmlns:a="http://schemas.openxmlformats.org/drawingml/2006/main">
            <a:r>
              <a:rPr lang="en-US" sz="1200" b="0">
                <a:solidFill>
                  <a:srgbClr val="1A1A2E"/>
                </a:solidFill>
                <a:latin typeface="Calibri"/>
                <a:ea typeface="Calibri"/>
              </a:rPr>
              <a:t>Lunch: Rajma curry + jeera rice  550</a:t>
            </a:r>
          </a:p>
          <a:p xmlns:a="http://schemas.openxmlformats.org/drawingml/2006/main">
            <a:r>
              <a:rPr lang="en-US" sz="1200" b="0">
                <a:solidFill>
                  <a:srgbClr val="1A1A2E"/>
                </a:solidFill>
                <a:latin typeface="Calibri"/>
                <a:ea typeface="Calibri"/>
              </a:rPr>
              <a:t>Snack: Tomato-based vegetable soup  100</a:t>
            </a:r>
          </a:p>
          <a:p xmlns:a="http://schemas.openxmlformats.org/drawingml/2006/main">
            <a:r>
              <a:rPr lang="en-US" sz="1200" b="0">
                <a:solidFill>
                  <a:srgbClr val="1A1A2E"/>
                </a:solidFill>
                <a:latin typeface="Calibri"/>
                <a:ea typeface="Calibri"/>
              </a:rPr>
              <a:t>Dinner: Dalia khichdi + salad  400</a:t>
            </a:r>
          </a:p>
          <a:p xmlns:a="http://schemas.openxmlformats.org/drawingml/2006/main">
            <a:r>
              <a:rPr lang="en-US" sz="1200" b="0">
                <a:solidFill>
                  <a:srgbClr val="1A1A2E"/>
                </a:solidFill>
                <a:latin typeface="Calibri"/>
                <a:ea typeface="Calibri"/>
              </a:rPr>
              <a:t>TOTAL: 1,550 kcal</a:t>
            </a:r>
          </a:p>
        </p:txBody>
      </p:sp>
      <p:sp>
        <p:nvSpPr>
          <p:cNvPr id="100066" name="Day5"/>
          <p:cNvSpPr txBox="1"/>
          <p:nvPr/>
        </p:nvSpPr>
        <p:spPr>
          <a:xfrm xmlns:a="http://schemas.openxmlformats.org/drawingml/2006/main">
            <a:off x="4320000" y="3240000"/>
            <a:ext cx="3780000" cy="1800000"/>
          </a:xfrm>
          <a:prstGeom xmlns:a="http://schemas.openxmlformats.org/drawingml/2006/main" prst="rect">
            <a:avLst/>
          </a:prstGeom>
          <a:solidFill xmlns:a="http://schemas.openxmlformats.org/drawingml/2006/main">
            <a:srgbClr val="E0F7FA"/>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alibri"/>
                <a:ea typeface="Calibri"/>
              </a:rPr>
              <a:t>FRI</a:t>
            </a:r>
          </a:p>
          <a:p xmlns:a="http://schemas.openxmlformats.org/drawingml/2006/main">
            <a:r>
              <a:rPr lang="en-US" sz="1200" b="0">
                <a:solidFill>
                  <a:srgbClr val="1A1A2E"/>
                </a:solidFill>
                <a:latin typeface="Calibri"/>
                <a:ea typeface="Calibri"/>
              </a:rPr>
              <a:t>Breakfast: Idli (3) + sambar + chutney  350</a:t>
            </a:r>
          </a:p>
          <a:p xmlns:a="http://schemas.openxmlformats.org/drawingml/2006/main">
            <a:r>
              <a:rPr lang="en-US" sz="1200" b="0">
                <a:solidFill>
                  <a:srgbClr val="1A1A2E"/>
                </a:solidFill>
                <a:latin typeface="Calibri"/>
                <a:ea typeface="Calibri"/>
              </a:rPr>
              <a:t>Mid-Morning: Nut butter + banana  200</a:t>
            </a:r>
          </a:p>
          <a:p xmlns:a="http://schemas.openxmlformats.org/drawingml/2006/main">
            <a:r>
              <a:rPr lang="en-US" sz="1200" b="0">
                <a:solidFill>
                  <a:srgbClr val="1A1A2E"/>
                </a:solidFill>
                <a:latin typeface="Calibri"/>
                <a:ea typeface="Calibri"/>
              </a:rPr>
              <a:t>Lunch: Chole + bhatura (whole wheat) + lassi  600</a:t>
            </a:r>
          </a:p>
          <a:p xmlns:a="http://schemas.openxmlformats.org/drawingml/2006/main">
            <a:r>
              <a:rPr lang="en-US" sz="1200" b="0">
                <a:solidFill>
                  <a:srgbClr val="1A1A2E"/>
                </a:solidFill>
                <a:latin typeface="Calibri"/>
                <a:ea typeface="Calibri"/>
              </a:rPr>
              <a:t>Snack: Roasted seeds trail mix  150</a:t>
            </a:r>
          </a:p>
          <a:p xmlns:a="http://schemas.openxmlformats.org/drawingml/2006/main">
            <a:r>
              <a:rPr lang="en-US" sz="1200" b="0">
                <a:solidFill>
                  <a:srgbClr val="1A1A2E"/>
                </a:solidFill>
                <a:latin typeface="Calibri"/>
                <a:ea typeface="Calibri"/>
              </a:rPr>
              <a:t>Dinner: Mushroom/spinach omelette + toast  380</a:t>
            </a:r>
          </a:p>
          <a:p xmlns:a="http://schemas.openxmlformats.org/drawingml/2006/main">
            <a:r>
              <a:rPr lang="en-US" sz="1200" b="0">
                <a:solidFill>
                  <a:srgbClr val="1A1A2E"/>
                </a:solidFill>
                <a:latin typeface="Calibri"/>
                <a:ea typeface="Calibri"/>
              </a:rPr>
              <a:t>TOTAL: 1,680 kcal</a:t>
            </a:r>
          </a:p>
        </p:txBody>
      </p:sp>
      <p:sp>
        <p:nvSpPr>
          <p:cNvPr id="100067" name="Day67"/>
          <p:cNvSpPr txBox="1"/>
          <p:nvPr/>
        </p:nvSpPr>
        <p:spPr>
          <a:xfrm xmlns:a="http://schemas.openxmlformats.org/drawingml/2006/main">
            <a:off x="8280000" y="3240000"/>
            <a:ext cx="3780000" cy="180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alibri"/>
                <a:ea typeface="Calibri"/>
              </a:rPr>
              <a:t>SAT   |   1,560 kcal</a:t>
            </a:r>
          </a:p>
          <a:p xmlns:a="http://schemas.openxmlformats.org/drawingml/2006/main">
            <a:r>
              <a:rPr lang="en-US" sz="1200" b="0">
                <a:solidFill>
                  <a:srgbClr val="1A1A2E"/>
                </a:solidFill>
                <a:latin typeface="Calibri"/>
                <a:ea typeface="Calibri"/>
              </a:rPr>
              <a:t>Poha + Lemon + Peanuts  340</a:t>
            </a:r>
          </a:p>
          <a:p xmlns:a="http://schemas.openxmlformats.org/drawingml/2006/main">
            <a:r>
              <a:rPr lang="en-US" sz="1200" b="0">
                <a:solidFill>
                  <a:srgbClr val="1A1A2E"/>
                </a:solidFill>
                <a:latin typeface="Calibri"/>
                <a:ea typeface="Calibri"/>
              </a:rPr>
              <a:t>Coconut water + orange  100</a:t>
            </a:r>
          </a:p>
          <a:p xmlns:a="http://schemas.openxmlformats.org/drawingml/2006/main">
            <a:r>
              <a:rPr lang="en-US" sz="1200" b="0">
                <a:solidFill>
                  <a:srgbClr val="1A1A2E"/>
                </a:solidFill>
                <a:latin typeface="Calibri"/>
                <a:ea typeface="Calibri"/>
              </a:rPr>
              <a:t>Fish curry + rice + daal  580</a:t>
            </a:r>
          </a:p>
          <a:p xmlns:a="http://schemas.openxmlformats.org/drawingml/2006/main">
            <a:r>
              <a:rPr lang="en-US" sz="1200" b="0">
                <a:solidFill>
                  <a:srgbClr val="1A1A2E"/>
                </a:solidFill>
                <a:latin typeface="Calibri"/>
                <a:ea typeface="Calibri"/>
              </a:rPr>
              <a:t>Baked veg chips + tea  120</a:t>
            </a:r>
          </a:p>
          <a:p xmlns:a="http://schemas.openxmlformats.org/drawingml/2006/main">
            <a:r>
              <a:rPr lang="en-US" sz="1200" b="0">
                <a:solidFill>
                  <a:srgbClr val="1A1A2E"/>
                </a:solidFill>
                <a:latin typeface="Calibri"/>
                <a:ea typeface="Calibri"/>
              </a:rPr>
              <a:t>Stuffed paratha + curd  420</a:t>
            </a:r>
          </a:p>
          <a:p xmlns:a="http://schemas.openxmlformats.org/drawingml/2006/main">
            <a:r>
              <a:rPr lang="en-US" sz="1200" b="0">
                <a:solidFill>
                  <a:srgbClr val="1A1A2E"/>
                </a:solidFill>
                <a:latin typeface="Calibri"/>
                <a:ea typeface="Calibri"/>
              </a:rPr>
              <a:t/>
            </a:r>
          </a:p>
          <a:p xmlns:a="http://schemas.openxmlformats.org/drawingml/2006/main">
            <a:r>
              <a:rPr lang="en-US" sz="1200" b="0">
                <a:solidFill>
                  <a:srgbClr val="1A1A2E"/>
                </a:solidFill>
                <a:latin typeface="Calibri"/>
                <a:ea typeface="Calibri"/>
              </a:rPr>
              <a:t>SUN   |   1,680 kcal</a:t>
            </a:r>
          </a:p>
          <a:p xmlns:a="http://schemas.openxmlformats.org/drawingml/2006/main">
            <a:r>
              <a:rPr lang="en-US" sz="1200" b="0">
                <a:solidFill>
                  <a:srgbClr val="1A1A2E"/>
                </a:solidFill>
                <a:latin typeface="Calibri"/>
                <a:ea typeface="Calibri"/>
              </a:rPr>
              <a:t>Smoothie bowl + granola  380</a:t>
            </a:r>
          </a:p>
          <a:p xmlns:a="http://schemas.openxmlformats.org/drawingml/2006/main">
            <a:r>
              <a:rPr lang="en-US" sz="1200" b="0">
                <a:solidFill>
                  <a:srgbClr val="1A1A2E"/>
                </a:solidFill>
                <a:latin typeface="Calibri"/>
                <a:ea typeface="Calibri"/>
              </a:rPr>
              <a:t>Veg omelette + toast  300</a:t>
            </a:r>
          </a:p>
          <a:p xmlns:a="http://schemas.openxmlformats.org/drawingml/2006/main">
            <a:r>
              <a:rPr lang="en-US" sz="1200" b="0">
                <a:solidFill>
                  <a:srgbClr val="1A1A2E"/>
                </a:solidFill>
                <a:latin typeface="Calibri"/>
                <a:ea typeface="Calibri"/>
              </a:rPr>
              <a:t>Lentil soup + multigrain bread  400</a:t>
            </a:r>
          </a:p>
          <a:p xmlns:a="http://schemas.openxmlformats.org/drawingml/2006/main">
            <a:r>
              <a:rPr lang="en-US" sz="1200" b="0">
                <a:solidFill>
                  <a:srgbClr val="1A1A2E"/>
                </a:solidFill>
                <a:latin typeface="Calibri"/>
                <a:ea typeface="Calibri"/>
              </a:rPr>
              <a:t>Dark chocolate + almonds  150</a:t>
            </a:r>
          </a:p>
          <a:p xmlns:a="http://schemas.openxmlformats.org/drawingml/2006/main">
            <a:r>
              <a:rPr lang="en-US" sz="1200" b="0">
                <a:solidFill>
                  <a:srgbClr val="1A1A2E"/>
                </a:solidFill>
                <a:latin typeface="Calibri"/>
                <a:ea typeface="Calibri"/>
              </a:rPr>
              <a:t>Paneer bhurji + roti  450</a:t>
            </a:r>
          </a:p>
        </p:txBody>
      </p:sp>
    </p:spTree>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68"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69" name="Title"/>
          <p:cNvSpPr txBox="1"/>
          <p:nvPr/>
        </p:nvSpPr>
        <p:spPr>
          <a:xfrm xmlns:a="http://schemas.openxmlformats.org/drawingml/2006/main">
            <a:off x="540000" y="144000"/>
            <a:ext cx="1008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200" b="1">
                <a:solidFill>
                  <a:srgbClr val="FFFFFF"/>
                </a:solidFill>
                <a:latin typeface="Calibri"/>
                <a:ea typeface="Calibri"/>
              </a:rPr>
              <a:t>Condition-Specific Dietary Notes &amp; Micronutrients</a:t>
            </a:r>
          </a:p>
        </p:txBody>
      </p:sp>
      <p:sp>
        <p:nvSpPr>
          <p:cNvPr id="100070"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08</a:t>
            </a:r>
          </a:p>
        </p:txBody>
      </p:sp>
      <p:sp>
        <p:nvSpPr>
          <p:cNvPr id="100071" name="DiabetesBox"/>
          <p:cNvSpPr txBox="1"/>
          <p:nvPr/>
        </p:nvSpPr>
        <p:spPr>
          <a:xfrm xmlns:a="http://schemas.openxmlformats.org/drawingml/2006/main">
            <a:off x="360000" y="1188000"/>
            <a:ext cx="5580000" cy="1980000"/>
          </a:xfrm>
          <a:prstGeom xmlns:a="http://schemas.openxmlformats.org/drawingml/2006/main" prst="rect">
            <a:avLst/>
          </a:prstGeom>
          <a:solidFill xmlns:a="http://schemas.openxmlformats.org/drawingml/2006/main">
            <a:srgbClr val="FFF3E0"/>
          </a:solidFill>
        </p:spPr>
        <p:txBody>
          <a:bodyPr xmlns:a="http://schemas.openxmlformats.org/drawingml/2006/main"/>
          <a:lstStyle xmlns:a="http://schemas.openxmlformats.org/drawingml/2006/main"/>
          <a:p xmlns:a="http://schemas.openxmlformats.org/drawingml/2006/main">
            <a:r>
              <a:rPr lang="en-US" sz="1400" b="0">
                <a:solidFill>
                  <a:srgbClr val="1A1A2E"/>
                </a:solidFill>
                <a:latin typeface="Calibri"/>
                <a:ea typeface="Calibri"/>
              </a:rPr>
              <a:t>FOR BLOOD SUGAR MANAGEMENT</a:t>
            </a:r>
          </a:p>
          <a:p xmlns:a="http://schemas.openxmlformats.org/drawingml/2006/main">
            <a:r>
              <a:rPr lang="en-US" sz="1400" b="0">
                <a:solidFill>
                  <a:srgbClr val="1A1A2E"/>
                </a:solidFill>
                <a:latin typeface="Calibri"/>
                <a:ea typeface="Calibri"/>
              </a:rPr>
              <a:t>(Pre-diabetes / Type 2 Diabetes)</a:t>
            </a:r>
          </a:p>
          <a:p xmlns:a="http://schemas.openxmlformats.org/drawingml/2006/main">
            <a:r>
              <a:rPr lang="en-US" sz="1400" b="0">
                <a:solidFill>
                  <a:srgbClr val="1A1A2E"/>
                </a:solidFill>
                <a:latin typeface="Calibri"/>
                <a:ea typeface="Calibri"/>
              </a:rPr>
              <a:t/>
            </a:r>
          </a:p>
          <a:p xmlns:a="http://schemas.openxmlformats.org/drawingml/2006/main">
            <a:r>
              <a:rPr lang="en-US" sz="1400" b="0">
                <a:solidFill>
                  <a:srgbClr val="1A1A2E"/>
                </a:solidFill>
                <a:latin typeface="Calibri"/>
                <a:ea typeface="Calibri"/>
              </a:rPr>
              <a:t>Prefer low GI foods: oats, lentils, quinoa, sweet potato</a:t>
            </a:r>
          </a:p>
          <a:p xmlns:a="http://schemas.openxmlformats.org/drawingml/2006/main">
            <a:r>
              <a:rPr lang="en-US" sz="1400" b="0">
                <a:solidFill>
                  <a:srgbClr val="1A1A2E"/>
                </a:solidFill>
                <a:latin typeface="Calibri"/>
                <a:ea typeface="Calibri"/>
              </a:rPr>
              <a:t>Avoid refined carbs: white rice excess, maida, sugary snacks</a:t>
            </a:r>
          </a:p>
          <a:p xmlns:a="http://schemas.openxmlformats.org/drawingml/2006/main">
            <a:r>
              <a:rPr lang="en-US" sz="1400" b="0">
                <a:solidFill>
                  <a:srgbClr val="1A1A2E"/>
                </a:solidFill>
                <a:latin typeface="Calibri"/>
                <a:ea typeface="Calibri"/>
              </a:rPr>
              <a:t>Portion control — plate method: 1/2 vegetables, 1/4 protein, 1/4 whole grains</a:t>
            </a:r>
          </a:p>
          <a:p xmlns:a="http://schemas.openxmlformats.org/drawingml/2006/main">
            <a:r>
              <a:rPr lang="en-US" sz="1400" b="0">
                <a:solidFill>
                  <a:srgbClr val="1A1A2E"/>
                </a:solidFill>
                <a:latin typeface="Calibri"/>
                <a:ea typeface="Calibri"/>
              </a:rPr>
              <a:t>Include cinnamon, fenugreek seeds, bitter gourd — natural regulators</a:t>
            </a:r>
          </a:p>
          <a:p xmlns:a="http://schemas.openxmlformats.org/drawingml/2006/main">
            <a:r>
              <a:rPr lang="en-US" sz="1400" b="0">
                <a:solidFill>
                  <a:srgbClr val="1A1A2E"/>
                </a:solidFill>
                <a:latin typeface="Calibri"/>
                <a:ea typeface="Calibri"/>
              </a:rPr>
              <a:t>Never skip meals — eat at consistent times daily</a:t>
            </a:r>
          </a:p>
        </p:txBody>
      </p:sp>
      <p:sp>
        <p:nvSpPr>
          <p:cNvPr id="100072" name="BPBox"/>
          <p:cNvSpPr txBox="1"/>
          <p:nvPr/>
        </p:nvSpPr>
        <p:spPr>
          <a:xfrm xmlns:a="http://schemas.openxmlformats.org/drawingml/2006/main">
            <a:off x="6120000" y="1188000"/>
            <a:ext cx="5580000" cy="198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400" b="0">
                <a:solidFill>
                  <a:srgbClr val="1A1A2E"/>
                </a:solidFill>
                <a:latin typeface="Calibri"/>
                <a:ea typeface="Calibri"/>
              </a:rPr>
              <a:t>FOR BLOOD PRESSURE MANAGEMENT</a:t>
            </a:r>
          </a:p>
          <a:p xmlns:a="http://schemas.openxmlformats.org/drawingml/2006/main">
            <a:r>
              <a:rPr lang="en-US" sz="1400" b="0">
                <a:solidFill>
                  <a:srgbClr val="1A1A2E"/>
                </a:solidFill>
                <a:latin typeface="Calibri"/>
                <a:ea typeface="Calibri"/>
              </a:rPr>
              <a:t>(DASH Diet Principles)</a:t>
            </a:r>
          </a:p>
          <a:p xmlns:a="http://schemas.openxmlformats.org/drawingml/2006/main">
            <a:r>
              <a:rPr lang="en-US" sz="1400" b="0">
                <a:solidFill>
                  <a:srgbClr val="1A1A2E"/>
                </a:solidFill>
                <a:latin typeface="Calibri"/>
                <a:ea typeface="Calibri"/>
              </a:rPr>
              <a:t/>
            </a:r>
          </a:p>
          <a:p xmlns:a="http://schemas.openxmlformats.org/drawingml/2006/main">
            <a:r>
              <a:rPr lang="en-US" sz="1400" b="0">
                <a:solidFill>
                  <a:srgbClr val="1A1A2E"/>
                </a:solidFill>
                <a:latin typeface="Calibri"/>
                <a:ea typeface="Calibri"/>
              </a:rPr>
              <a:t>DASH diet: more fruits, vegetables, whole grains, low-fat dairy</a:t>
            </a:r>
          </a:p>
          <a:p xmlns:a="http://schemas.openxmlformats.org/drawingml/2006/main">
            <a:r>
              <a:rPr lang="en-US" sz="1400" b="0">
                <a:solidFill>
                  <a:srgbClr val="1A1A2E"/>
                </a:solidFill>
                <a:latin typeface="Calibri"/>
                <a:ea typeface="Calibri"/>
              </a:rPr>
              <a:t>Reduce sodium: limit salt to &lt;5g/day; avoid processed foods</a:t>
            </a:r>
          </a:p>
          <a:p xmlns:a="http://schemas.openxmlformats.org/drawingml/2006/main">
            <a:r>
              <a:rPr lang="en-US" sz="1400" b="0">
                <a:solidFill>
                  <a:srgbClr val="1A1A2E"/>
                </a:solidFill>
                <a:latin typeface="Calibri"/>
                <a:ea typeface="Calibri"/>
              </a:rPr>
              <a:t>Increase potassium-rich foods: banana, sweet potato, spinach, coconut water</a:t>
            </a:r>
          </a:p>
          <a:p xmlns:a="http://schemas.openxmlformats.org/drawingml/2006/main">
            <a:r>
              <a:rPr lang="en-US" sz="1400" b="0">
                <a:solidFill>
                  <a:srgbClr val="1A1A2E"/>
                </a:solidFill>
                <a:latin typeface="Calibri"/>
                <a:ea typeface="Calibri"/>
              </a:rPr>
              <a:t>Omega-3 fatty acids: flaxseed, walnuts, fatty fish — lower BP naturally</a:t>
            </a:r>
          </a:p>
          <a:p xmlns:a="http://schemas.openxmlformats.org/drawingml/2006/main">
            <a:r>
              <a:rPr lang="en-US" sz="1400" b="0">
                <a:solidFill>
                  <a:srgbClr val="1A1A2E"/>
                </a:solidFill>
                <a:latin typeface="Calibri"/>
                <a:ea typeface="Calibri"/>
              </a:rPr>
              <a:t>Limit caffeine and alcohol</a:t>
            </a:r>
          </a:p>
        </p:txBody>
      </p:sp>
      <p:sp>
        <p:nvSpPr>
          <p:cNvPr id="100073" name="AvoidBox"/>
          <p:cNvSpPr txBox="1"/>
          <p:nvPr/>
        </p:nvSpPr>
        <p:spPr>
          <a:xfrm xmlns:a="http://schemas.openxmlformats.org/drawingml/2006/main">
            <a:off x="360000" y="3312000"/>
            <a:ext cx="5580000" cy="198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400" b="0">
                <a:solidFill>
                  <a:srgbClr val="1A1A2E"/>
                </a:solidFill>
                <a:latin typeface="Calibri"/>
                <a:ea typeface="Calibri"/>
              </a:rPr>
              <a:t>FOODS TO AVOID</a:t>
            </a:r>
          </a:p>
          <a:p xmlns:a="http://schemas.openxmlformats.org/drawingml/2006/main">
            <a:r>
              <a:rPr lang="en-US" sz="1400" b="0">
                <a:solidFill>
                  <a:srgbClr val="1A1A2E"/>
                </a:solidFill>
                <a:latin typeface="Calibri"/>
                <a:ea typeface="Calibri"/>
              </a:rPr>
              <a:t/>
            </a:r>
          </a:p>
          <a:p xmlns:a="http://schemas.openxmlformats.org/drawingml/2006/main">
            <a:r>
              <a:rPr lang="en-US" sz="1400" b="0">
                <a:solidFill>
                  <a:srgbClr val="1A1A2E"/>
                </a:solidFill>
                <a:latin typeface="Calibri"/>
                <a:ea typeface="Calibri"/>
              </a:rPr>
              <a:t>Refined sugars — White sugar, sweets, soft drinks (blood sugar spikes)</a:t>
            </a:r>
          </a:p>
          <a:p xmlns:a="http://schemas.openxmlformats.org/drawingml/2006/main">
            <a:r>
              <a:rPr lang="en-US" sz="1400" b="0">
                <a:solidFill>
                  <a:srgbClr val="1A1A2E"/>
                </a:solidFill>
                <a:latin typeface="Calibri"/>
                <a:ea typeface="Calibri"/>
              </a:rPr>
              <a:t>Processed foods — Chips, instant noodles, frozen meals (high sodium, trans fats)</a:t>
            </a:r>
          </a:p>
          <a:p xmlns:a="http://schemas.openxmlformats.org/drawingml/2006/main">
            <a:r>
              <a:rPr lang="en-US" sz="1400" b="0">
                <a:solidFill>
                  <a:srgbClr val="1A1A2E"/>
                </a:solidFill>
                <a:latin typeface="Calibri"/>
                <a:ea typeface="Calibri"/>
              </a:rPr>
              <a:t>White carbs — Maida, white bread, pastries (high GI, low nutrition)</a:t>
            </a:r>
          </a:p>
          <a:p xmlns:a="http://schemas.openxmlformats.org/drawingml/2006/main">
            <a:r>
              <a:rPr lang="en-US" sz="1400" b="0">
                <a:solidFill>
                  <a:srgbClr val="1A1A2E"/>
                </a:solidFill>
                <a:latin typeface="Calibri"/>
                <a:ea typeface="Calibri"/>
              </a:rPr>
              <a:t>High-sodium — Pickles in excess, papad, salted nuts (blood pressure)</a:t>
            </a:r>
          </a:p>
          <a:p xmlns:a="http://schemas.openxmlformats.org/drawingml/2006/main">
            <a:r>
              <a:rPr lang="en-US" sz="1400" b="0">
                <a:solidFill>
                  <a:srgbClr val="1A1A2E"/>
                </a:solidFill>
                <a:latin typeface="Calibri"/>
                <a:ea typeface="Calibri"/>
              </a:rPr>
              <a:t>Trans fats — Vanaspati, margarine, fried snacks (cardiovascular risk)</a:t>
            </a:r>
          </a:p>
        </p:txBody>
      </p:sp>
      <p:sp>
        <p:nvSpPr>
          <p:cNvPr id="100074" name="MicroBox"/>
          <p:cNvSpPr txBox="1"/>
          <p:nvPr/>
        </p:nvSpPr>
        <p:spPr>
          <a:xfrm xmlns:a="http://schemas.openxmlformats.org/drawingml/2006/main">
            <a:off x="6120000" y="3312000"/>
            <a:ext cx="5580000" cy="198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400" b="0">
                <a:solidFill>
                  <a:srgbClr val="1A1A2E"/>
                </a:solidFill>
                <a:latin typeface="Calibri"/>
                <a:ea typeface="Calibri"/>
              </a:rPr>
              <a:t>RECOMMENDED MICRONUTRIENTS (RDA)</a:t>
            </a:r>
          </a:p>
          <a:p xmlns:a="http://schemas.openxmlformats.org/drawingml/2006/main">
            <a:r>
              <a:rPr lang="en-US" sz="1400" b="0">
                <a:solidFill>
                  <a:srgbClr val="1A1A2E"/>
                </a:solidFill>
                <a:latin typeface="Calibri"/>
                <a:ea typeface="Calibri"/>
              </a:rPr>
              <a:t/>
            </a:r>
          </a:p>
          <a:p xmlns:a="http://schemas.openxmlformats.org/drawingml/2006/main">
            <a:r>
              <a:rPr lang="en-US" sz="1400" b="0">
                <a:solidFill>
                  <a:srgbClr val="1A1A2E"/>
                </a:solidFill>
                <a:latin typeface="Calibri"/>
                <a:ea typeface="Calibri"/>
              </a:rPr>
              <a:t>Vitamin D  600 IU/day  — Sunlight, fortified milk, fatty fish</a:t>
            </a:r>
          </a:p>
          <a:p xmlns:a="http://schemas.openxmlformats.org/drawingml/2006/main">
            <a:r>
              <a:rPr lang="en-US" sz="1400" b="0">
                <a:solidFill>
                  <a:srgbClr val="1A1A2E"/>
                </a:solidFill>
                <a:latin typeface="Calibri"/>
                <a:ea typeface="Calibri"/>
              </a:rPr>
              <a:t>Iron          21 mg/day   — Spinach, lentils, rajma, cereals</a:t>
            </a:r>
          </a:p>
          <a:p xmlns:a="http://schemas.openxmlformats.org/drawingml/2006/main">
            <a:r>
              <a:rPr lang="en-US" sz="1400" b="0">
                <a:solidFill>
                  <a:srgbClr val="1A1A2E"/>
                </a:solidFill>
                <a:latin typeface="Calibri"/>
                <a:ea typeface="Calibri"/>
              </a:rPr>
              <a:t>Calcium    1000 mg/day — Dairy, ragi, sesame, plant milk</a:t>
            </a:r>
          </a:p>
          <a:p xmlns:a="http://schemas.openxmlformats.org/drawingml/2006/main">
            <a:r>
              <a:rPr lang="en-US" sz="1400" b="0">
                <a:solidFill>
                  <a:srgbClr val="1A1A2E"/>
                </a:solidFill>
                <a:latin typeface="Calibri"/>
                <a:ea typeface="Calibri"/>
              </a:rPr>
              <a:t>Vit B12    2.4 mcg/day — Dairy, eggs, fortified foods</a:t>
            </a:r>
          </a:p>
          <a:p xmlns:a="http://schemas.openxmlformats.org/drawingml/2006/main">
            <a:r>
              <a:rPr lang="en-US" sz="1400" b="0">
                <a:solidFill>
                  <a:srgbClr val="1A1A2E"/>
                </a:solidFill>
                <a:latin typeface="Calibri"/>
                <a:ea typeface="Calibri"/>
              </a:rPr>
              <a:t>Omega-3   1.1 g/day    — Flaxseed, chia, walnuts, fish</a:t>
            </a:r>
          </a:p>
          <a:p xmlns:a="http://schemas.openxmlformats.org/drawingml/2006/main">
            <a:r>
              <a:rPr lang="en-US" sz="1400" b="0">
                <a:solidFill>
                  <a:srgbClr val="1A1A2E"/>
                </a:solidFill>
                <a:latin typeface="Calibri"/>
                <a:ea typeface="Calibri"/>
              </a:rPr>
              <a:t>Folate       400 mcg/day — Leafy greens, legumes</a:t>
            </a:r>
          </a:p>
          <a:p xmlns:a="http://schemas.openxmlformats.org/drawingml/2006/main">
            <a:r>
              <a:rPr lang="en-US" sz="1400" b="0">
                <a:solidFill>
                  <a:srgbClr val="1A1A2E"/>
                </a:solidFill>
                <a:latin typeface="Calibri"/>
                <a:ea typeface="Calibri"/>
              </a:rPr>
              <a:t>Magnesium 310 mg/day — Nuts, seeds, dark chocolate</a:t>
            </a:r>
          </a:p>
        </p:txBody>
      </p:sp>
    </p:spTree>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75"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76"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BMI &amp; TDEE Calculator — Live Output</a:t>
            </a:r>
          </a:p>
        </p:txBody>
      </p:sp>
      <p:sp>
        <p:nvSpPr>
          <p:cNvPr id="100077"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09</a:t>
            </a:r>
          </a:p>
        </p:txBody>
      </p:sp>
      <p:sp>
        <p:nvSpPr>
          <p:cNvPr id="100078" name="APILabel"/>
          <p:cNvSpPr txBox="1"/>
          <p:nvPr/>
        </p:nvSpPr>
        <p:spPr>
          <a:xfrm xmlns:a="http://schemas.openxmlformats.org/drawingml/2006/main">
            <a:off x="360000" y="1152000"/>
            <a:ext cx="11160000" cy="28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LIVE API TEST RESULT  —  POST /api/bmi  &amp;  POST /api/generate-plan</a:t>
            </a:r>
          </a:p>
        </p:txBody>
      </p:sp>
      <p:sp>
        <p:nvSpPr>
          <p:cNvPr id="100079" name="BMIResult"/>
          <p:cNvSpPr txBox="1"/>
          <p:nvPr/>
        </p:nvSpPr>
        <p:spPr>
          <a:xfrm xmlns:a="http://schemas.openxmlformats.org/drawingml/2006/main">
            <a:off x="360000" y="1548000"/>
            <a:ext cx="5400000" cy="342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600" b="0">
                <a:solidFill>
                  <a:srgbClr val="1A1A2E"/>
                </a:solidFill>
                <a:latin typeface="Calibri"/>
                <a:ea typeface="Calibri"/>
              </a:rPr>
              <a:t>BMI CALCULATION</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Input Profile:</a:t>
            </a:r>
          </a:p>
          <a:p xmlns:a="http://schemas.openxmlformats.org/drawingml/2006/main">
            <a:r>
              <a:rPr lang="en-US" sz="1600" b="0">
                <a:solidFill>
                  <a:srgbClr val="1A1A2E"/>
                </a:solidFill>
                <a:latin typeface="Calibri"/>
                <a:ea typeface="Calibri"/>
              </a:rPr>
              <a:t>  Name: Test User</a:t>
            </a:r>
          </a:p>
          <a:p xmlns:a="http://schemas.openxmlformats.org/drawingml/2006/main">
            <a:r>
              <a:rPr lang="en-US" sz="1600" b="0">
                <a:solidFill>
                  <a:srgbClr val="1A1A2E"/>
                </a:solidFill>
                <a:latin typeface="Calibri"/>
                <a:ea typeface="Calibri"/>
              </a:rPr>
              <a:t>  Weight: 60 kg</a:t>
            </a:r>
          </a:p>
          <a:p xmlns:a="http://schemas.openxmlformats.org/drawingml/2006/main">
            <a:r>
              <a:rPr lang="en-US" sz="1600" b="0">
                <a:solidFill>
                  <a:srgbClr val="1A1A2E"/>
                </a:solidFill>
                <a:latin typeface="Calibri"/>
                <a:ea typeface="Calibri"/>
              </a:rPr>
              <a:t>  Height: 165 cm</a:t>
            </a:r>
          </a:p>
          <a:p xmlns:a="http://schemas.openxmlformats.org/drawingml/2006/main">
            <a:r>
              <a:rPr lang="en-US" sz="1600" b="0">
                <a:solidFill>
                  <a:srgbClr val="1A1A2E"/>
                </a:solidFill>
                <a:latin typeface="Calibri"/>
                <a:ea typeface="Calibri"/>
              </a:rPr>
              <a:t>  Age: 28 yrs  |  Gender: Female</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API Response:</a:t>
            </a:r>
          </a:p>
          <a:p xmlns:a="http://schemas.openxmlformats.org/drawingml/2006/main">
            <a:r>
              <a:rPr lang="en-US" sz="1600" b="0">
                <a:solidFill>
                  <a:srgbClr val="1A1A2E"/>
                </a:solidFill>
                <a:latin typeface="Calibri"/>
                <a:ea typeface="Calibri"/>
              </a:rPr>
              <a:t>  BMI: 22.0</a:t>
            </a:r>
          </a:p>
          <a:p xmlns:a="http://schemas.openxmlformats.org/drawingml/2006/main">
            <a:r>
              <a:rPr lang="en-US" sz="1600" b="0">
                <a:solidFill>
                  <a:srgbClr val="1A1A2E"/>
                </a:solidFill>
                <a:latin typeface="Calibri"/>
                <a:ea typeface="Calibri"/>
              </a:rPr>
              <a:t>  Category: Normal weight</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  Formula: weight / (height/100)^2</a:t>
            </a:r>
          </a:p>
          <a:p xmlns:a="http://schemas.openxmlformats.org/drawingml/2006/main">
            <a:r>
              <a:rPr lang="en-US" sz="1600" b="0">
                <a:solidFill>
                  <a:srgbClr val="1A1A2E"/>
                </a:solidFill>
                <a:latin typeface="Calibri"/>
                <a:ea typeface="Calibri"/>
              </a:rPr>
              <a:t>  60 / (1.65)^2  =  22.04</a:t>
            </a:r>
          </a:p>
        </p:txBody>
      </p:sp>
      <p:sp>
        <p:nvSpPr>
          <p:cNvPr id="100080" name="TDEEResult"/>
          <p:cNvSpPr txBox="1"/>
          <p:nvPr/>
        </p:nvSpPr>
        <p:spPr>
          <a:xfrm xmlns:a="http://schemas.openxmlformats.org/drawingml/2006/main">
            <a:off x="6120000" y="1548000"/>
            <a:ext cx="5400000" cy="342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600" b="0">
                <a:solidFill>
                  <a:srgbClr val="1A1A2E"/>
                </a:solidFill>
                <a:latin typeface="Calibri"/>
                <a:ea typeface="Calibri"/>
              </a:rPr>
              <a:t>TDEE CALCULATION</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Input:</a:t>
            </a:r>
          </a:p>
          <a:p xmlns:a="http://schemas.openxmlformats.org/drawingml/2006/main">
            <a:r>
              <a:rPr lang="en-US" sz="1600" b="0">
                <a:solidFill>
                  <a:srgbClr val="1A1A2E"/>
                </a:solidFill>
                <a:latin typeface="Calibri"/>
                <a:ea typeface="Calibri"/>
              </a:rPr>
              <a:t>  Activity Level: Moderate</a:t>
            </a:r>
          </a:p>
          <a:p xmlns:a="http://schemas.openxmlformats.org/drawingml/2006/main">
            <a:r>
              <a:rPr lang="en-US" sz="1600" b="0">
                <a:solidFill>
                  <a:srgbClr val="1A1A2E"/>
                </a:solidFill>
                <a:latin typeface="Calibri"/>
                <a:ea typeface="Calibri"/>
              </a:rPr>
              <a:t>  Multiplier: 1.55</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Mifflin-St Jeor (Female):</a:t>
            </a:r>
          </a:p>
          <a:p xmlns:a="http://schemas.openxmlformats.org/drawingml/2006/main">
            <a:r>
              <a:rPr lang="en-US" sz="1600" b="0">
                <a:solidFill>
                  <a:srgbClr val="1A1A2E"/>
                </a:solidFill>
                <a:latin typeface="Calibri"/>
                <a:ea typeface="Calibri"/>
              </a:rPr>
              <a:t>  BMR = (10 x 60) + (6.25 x 165)</a:t>
            </a:r>
          </a:p>
          <a:p xmlns:a="http://schemas.openxmlformats.org/drawingml/2006/main">
            <a:r>
              <a:rPr lang="en-US" sz="1600" b="0">
                <a:solidFill>
                  <a:srgbClr val="1A1A2E"/>
                </a:solidFill>
                <a:latin typeface="Calibri"/>
                <a:ea typeface="Calibri"/>
              </a:rPr>
              <a:t>        - (5 x 28) - 161</a:t>
            </a:r>
          </a:p>
          <a:p xmlns:a="http://schemas.openxmlformats.org/drawingml/2006/main">
            <a:r>
              <a:rPr lang="en-US" sz="1600" b="0">
                <a:solidFill>
                  <a:srgbClr val="1A1A2E"/>
                </a:solidFill>
                <a:latin typeface="Calibri"/>
                <a:ea typeface="Calibri"/>
              </a:rPr>
              <a:t>  BMR = 600 + 1031.25 - 140 - 161</a:t>
            </a:r>
          </a:p>
          <a:p xmlns:a="http://schemas.openxmlformats.org/drawingml/2006/main">
            <a:r>
              <a:rPr lang="en-US" sz="1600" b="0">
                <a:solidFill>
                  <a:srgbClr val="1A1A2E"/>
                </a:solidFill>
                <a:latin typeface="Calibri"/>
                <a:ea typeface="Calibri"/>
              </a:rPr>
              <a:t>  BMR = 1,330 kcal</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  TDEE = 1,330 x 1.55</a:t>
            </a:r>
          </a:p>
          <a:p xmlns:a="http://schemas.openxmlformats.org/drawingml/2006/main">
            <a:r>
              <a:rPr lang="en-US" sz="1600" b="0">
                <a:solidFill>
                  <a:srgbClr val="1A1A2E"/>
                </a:solidFill>
                <a:latin typeface="Calibri"/>
                <a:ea typeface="Calibri"/>
              </a:rPr>
              <a:t>  TDEE = 2,062 kcal/day</a:t>
            </a:r>
          </a:p>
          <a:p xmlns:a="http://schemas.openxmlformats.org/drawingml/2006/main">
            <a:r>
              <a:rPr lang="en-US" sz="1600" b="0">
                <a:solidFill>
                  <a:srgbClr val="1A1A2E"/>
                </a:solidFill>
                <a:latin typeface="Calibri"/>
                <a:ea typeface="Calibri"/>
              </a:rPr>
              <a:t/>
            </a:r>
          </a:p>
          <a:p xmlns:a="http://schemas.openxmlformats.org/drawingml/2006/main">
            <a:r>
              <a:rPr lang="en-US" sz="1600" b="0">
                <a:solidFill>
                  <a:srgbClr val="1A1A2E"/>
                </a:solidFill>
                <a:latin typeface="Calibri"/>
                <a:ea typeface="Calibri"/>
              </a:rPr>
              <a:t>  API: {"tdee": 2062, "bmr": 1330}</a:t>
            </a:r>
          </a:p>
        </p:txBody>
      </p:sp>
      <p:sp>
        <p:nvSpPr>
          <p:cNvPr id="100081" name="RDANote"/>
          <p:cNvSpPr txBox="1"/>
          <p:nvPr/>
        </p:nvSpPr>
        <p:spPr>
          <a:xfrm xmlns:a="http://schemas.openxmlformats.org/drawingml/2006/main">
            <a:off x="360000" y="5112000"/>
            <a:ext cx="11160000" cy="324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alibri"/>
                <a:ea typeface="Calibri"/>
              </a:rPr>
              <a:t>RDA (Female, 28 yrs):  1,900 kcal  |  55g Protein  |  230g Carbs  |  50g Fat  |  25g Fibre  |  1,000mg Calcium  |  21mg Iron  |  2,700ml Water</a:t>
            </a:r>
          </a:p>
        </p:txBody>
      </p:sp>
    </p:spTree>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82"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83"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REST API Endpoints</a:t>
            </a:r>
          </a:p>
        </p:txBody>
      </p:sp>
      <p:sp>
        <p:nvSpPr>
          <p:cNvPr id="100084"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10</a:t>
            </a:r>
          </a:p>
        </p:txBody>
      </p:sp>
      <p:sp>
        <p:nvSpPr>
          <p:cNvPr id="100085" name="EP1"/>
          <p:cNvSpPr txBox="1"/>
          <p:nvPr/>
        </p:nvSpPr>
        <p:spPr>
          <a:xfrm xmlns:a="http://schemas.openxmlformats.org/drawingml/2006/main">
            <a:off x="360000" y="1188000"/>
            <a:ext cx="3600000" cy="18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GET  /api/health</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Status: 200 OK</a:t>
            </a:r>
          </a:p>
          <a:p xmlns:a="http://schemas.openxmlformats.org/drawingml/2006/main">
            <a:r>
              <a:rPr lang="en-US" sz="1300" b="0">
                <a:solidFill>
                  <a:srgbClr val="1A1A2E"/>
                </a:solidFill>
                <a:latin typeface="Courier New"/>
                <a:ea typeface="Courier New"/>
              </a:rPr>
              <a:t>{"status":"ok",</a:t>
            </a:r>
          </a:p>
          <a:p xmlns:a="http://schemas.openxmlformats.org/drawingml/2006/main">
            <a:r>
              <a:rPr lang="en-US" sz="1300" b="0">
                <a:solidFill>
                  <a:srgbClr val="1A1A2E"/>
                </a:solidFill>
                <a:latin typeface="Courier New"/>
                <a:ea typeface="Courier New"/>
              </a:rPr>
              <a:t>"service":"Nutrition Agentic AI",</a:t>
            </a:r>
          </a:p>
          <a:p xmlns:a="http://schemas.openxmlformats.org/drawingml/2006/main">
            <a:r>
              <a:rPr lang="en-US" sz="1300" b="0">
                <a:solidFill>
                  <a:srgbClr val="1A1A2E"/>
                </a:solidFill>
                <a:latin typeface="Courier New"/>
                <a:ea typeface="Courier New"/>
              </a:rPr>
              <a:t>"model":"IBM Granite",</a:t>
            </a:r>
          </a:p>
          <a:p xmlns:a="http://schemas.openxmlformats.org/drawingml/2006/main">
            <a:r>
              <a:rPr lang="en-US" sz="1300" b="0">
                <a:solidFill>
                  <a:srgbClr val="1A1A2E"/>
                </a:solidFill>
                <a:latin typeface="Courier New"/>
                <a:ea typeface="Courier New"/>
              </a:rPr>
              <a:t>"version":"1.0.0"}</a:t>
            </a:r>
          </a:p>
        </p:txBody>
      </p:sp>
      <p:sp>
        <p:nvSpPr>
          <p:cNvPr id="100086" name="EP2"/>
          <p:cNvSpPr txBox="1"/>
          <p:nvPr/>
        </p:nvSpPr>
        <p:spPr>
          <a:xfrm xmlns:a="http://schemas.openxmlformats.org/drawingml/2006/main">
            <a:off x="4320000" y="1188000"/>
            <a:ext cx="3600000" cy="180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ourier New"/>
                <a:ea typeface="Courier New"/>
              </a:rPr>
              <a:t>POST  /api/generate-plan</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Body: name, age, gender,</a:t>
            </a:r>
          </a:p>
          <a:p xmlns:a="http://schemas.openxmlformats.org/drawingml/2006/main">
            <a:r>
              <a:rPr lang="en-US" sz="1200" b="0">
                <a:solidFill>
                  <a:srgbClr val="1A1A2E"/>
                </a:solidFill>
                <a:latin typeface="Courier New"/>
                <a:ea typeface="Courier New"/>
              </a:rPr>
              <a:t>diet_preference,</a:t>
            </a:r>
          </a:p>
          <a:p xmlns:a="http://schemas.openxmlformats.org/drawingml/2006/main">
            <a:r>
              <a:rPr lang="en-US" sz="1200" b="0">
                <a:solidFill>
                  <a:srgbClr val="1A1A2E"/>
                </a:solidFill>
                <a:latin typeface="Courier New"/>
                <a:ea typeface="Courier New"/>
              </a:rPr>
              <a:t>medical_history,</a:t>
            </a:r>
          </a:p>
          <a:p xmlns:a="http://schemas.openxmlformats.org/drawingml/2006/main">
            <a:r>
              <a:rPr lang="en-US" sz="1200" b="0">
                <a:solidFill>
                  <a:srgbClr val="1A1A2E"/>
                </a:solidFill>
                <a:latin typeface="Courier New"/>
                <a:ea typeface="Courier New"/>
              </a:rPr>
              <a:t>activity_level, health_goal,</a:t>
            </a:r>
          </a:p>
          <a:p xmlns:a="http://schemas.openxmlformats.org/drawingml/2006/main">
            <a:r>
              <a:rPr lang="en-US" sz="1200" b="0">
                <a:solidFill>
                  <a:srgbClr val="1A1A2E"/>
                </a:solidFill>
                <a:latin typeface="Courier New"/>
                <a:ea typeface="Courier New"/>
              </a:rPr>
              <a:t>location_city, location_country,</a:t>
            </a:r>
          </a:p>
          <a:p xmlns:a="http://schemas.openxmlformats.org/drawingml/2006/main">
            <a:r>
              <a:rPr lang="en-US" sz="1200" b="0">
                <a:solidFill>
                  <a:srgbClr val="1A1A2E"/>
                </a:solidFill>
                <a:latin typeface="Courier New"/>
                <a:ea typeface="Courier New"/>
              </a:rPr>
              <a:t>weight_kg, height_cm, allergies</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Returns: plan (markdown),</a:t>
            </a:r>
          </a:p>
          <a:p xmlns:a="http://schemas.openxmlformats.org/drawingml/2006/main">
            <a:r>
              <a:rPr lang="en-US" sz="1200" b="0">
                <a:solidFill>
                  <a:srgbClr val="1A1A2E"/>
                </a:solidFill>
                <a:latin typeface="Courier New"/>
                <a:ea typeface="Courier New"/>
              </a:rPr>
              <a:t>bmi, tdee, rda, md_filename</a:t>
            </a:r>
          </a:p>
        </p:txBody>
      </p:sp>
      <p:sp>
        <p:nvSpPr>
          <p:cNvPr id="100087" name="EP3"/>
          <p:cNvSpPr txBox="1"/>
          <p:nvPr/>
        </p:nvSpPr>
        <p:spPr>
          <a:xfrm xmlns:a="http://schemas.openxmlformats.org/drawingml/2006/main">
            <a:off x="8280000" y="1188000"/>
            <a:ext cx="3600000" cy="1800000"/>
          </a:xfrm>
          <a:prstGeom xmlns:a="http://schemas.openxmlformats.org/drawingml/2006/main" prst="rect">
            <a:avLst/>
          </a:prstGeom>
          <a:solidFill xmlns:a="http://schemas.openxmlformats.org/drawingml/2006/main">
            <a:srgbClr val="FFF3E0"/>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POST  /api/query</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Body: question (str),</a:t>
            </a:r>
          </a:p>
          <a:p xmlns:a="http://schemas.openxmlformats.org/drawingml/2006/main">
            <a:r>
              <a:rPr lang="en-US" sz="1300" b="0">
                <a:solidFill>
                  <a:srgbClr val="1A1A2E"/>
                </a:solidFill>
                <a:latin typeface="Courier New"/>
                <a:ea typeface="Courier New"/>
              </a:rPr>
              <a:t>      context (optional dict)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Returns:</a:t>
            </a:r>
          </a:p>
          <a:p xmlns:a="http://schemas.openxmlformats.org/drawingml/2006/main">
            <a:r>
              <a:rPr lang="en-US" sz="1300" b="0">
                <a:solidFill>
                  <a:srgbClr val="1A1A2E"/>
                </a:solidFill>
                <a:latin typeface="Courier New"/>
                <a:ea typeface="Courier New"/>
              </a:rPr>
              <a:t>{"success": true,</a:t>
            </a:r>
          </a:p>
          <a:p xmlns:a="http://schemas.openxmlformats.org/drawingml/2006/main">
            <a:r>
              <a:rPr lang="en-US" sz="1300" b="0">
                <a:solidFill>
                  <a:srgbClr val="1A1A2E"/>
                </a:solidFill>
                <a:latin typeface="Courier New"/>
                <a:ea typeface="Courier New"/>
              </a:rPr>
              <a:t>"answer": "..."}</a:t>
            </a:r>
          </a:p>
        </p:txBody>
      </p:sp>
      <p:sp>
        <p:nvSpPr>
          <p:cNvPr id="100088" name="EP4"/>
          <p:cNvSpPr txBox="1"/>
          <p:nvPr/>
        </p:nvSpPr>
        <p:spPr>
          <a:xfrm xmlns:a="http://schemas.openxmlformats.org/drawingml/2006/main">
            <a:off x="360000" y="3240000"/>
            <a:ext cx="3600000" cy="180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POST  /api/meal-swap</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Body: meal (str),</a:t>
            </a:r>
          </a:p>
          <a:p xmlns:a="http://schemas.openxmlformats.org/drawingml/2006/main">
            <a:r>
              <a:rPr lang="en-US" sz="1300" b="0">
                <a:solidFill>
                  <a:srgbClr val="1A1A2E"/>
                </a:solidFill>
                <a:latin typeface="Courier New"/>
                <a:ea typeface="Courier New"/>
              </a:rPr>
              <a:t>      reason (str),</a:t>
            </a:r>
          </a:p>
          <a:p xmlns:a="http://schemas.openxmlformats.org/drawingml/2006/main">
            <a:r>
              <a:rPr lang="en-US" sz="1300" b="0">
                <a:solidFill>
                  <a:srgbClr val="1A1A2E"/>
                </a:solidFill>
                <a:latin typeface="Courier New"/>
                <a:ea typeface="Courier New"/>
              </a:rPr>
              <a:t>      profile (dict)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Returns:</a:t>
            </a:r>
          </a:p>
          <a:p xmlns:a="http://schemas.openxmlformats.org/drawingml/2006/main">
            <a:r>
              <a:rPr lang="en-US" sz="1300" b="0">
                <a:solidFill>
                  <a:srgbClr val="1A1A2E"/>
                </a:solidFill>
                <a:latin typeface="Courier New"/>
                <a:ea typeface="Courier New"/>
              </a:rPr>
              <a:t>{"success": true,</a:t>
            </a:r>
          </a:p>
          <a:p xmlns:a="http://schemas.openxmlformats.org/drawingml/2006/main">
            <a:r>
              <a:rPr lang="en-US" sz="1300" b="0">
                <a:solidFill>
                  <a:srgbClr val="1A1A2E"/>
                </a:solidFill>
                <a:latin typeface="Courier New"/>
                <a:ea typeface="Courier New"/>
              </a:rPr>
              <a:t>"suggestions": "..."}</a:t>
            </a:r>
          </a:p>
        </p:txBody>
      </p:sp>
      <p:sp>
        <p:nvSpPr>
          <p:cNvPr id="100089" name="EP5"/>
          <p:cNvSpPr txBox="1"/>
          <p:nvPr/>
        </p:nvSpPr>
        <p:spPr>
          <a:xfrm xmlns:a="http://schemas.openxmlformats.org/drawingml/2006/main">
            <a:off x="4320000" y="3240000"/>
            <a:ext cx="3600000" cy="1800000"/>
          </a:xfrm>
          <a:prstGeom xmlns:a="http://schemas.openxmlformats.org/drawingml/2006/main" prst="rect">
            <a:avLst/>
          </a:prstGeom>
          <a:solidFill xmlns:a="http://schemas.openxmlformats.org/drawingml/2006/main">
            <a:srgbClr val="E0F7FA"/>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POST  /api/bmi</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Body: weight_kg (float),</a:t>
            </a:r>
          </a:p>
          <a:p xmlns:a="http://schemas.openxmlformats.org/drawingml/2006/main">
            <a:r>
              <a:rPr lang="en-US" sz="1300" b="0">
                <a:solidFill>
                  <a:srgbClr val="1A1A2E"/>
                </a:solidFill>
                <a:latin typeface="Courier New"/>
                <a:ea typeface="Courier New"/>
              </a:rPr>
              <a:t>      height_cm (float)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Live Result:</a:t>
            </a:r>
          </a:p>
          <a:p xmlns:a="http://schemas.openxmlformats.org/drawingml/2006/main">
            <a:r>
              <a:rPr lang="en-US" sz="1300" b="0">
                <a:solidFill>
                  <a:srgbClr val="1A1A2E"/>
                </a:solidFill>
                <a:latin typeface="Courier New"/>
                <a:ea typeface="Courier New"/>
              </a:rPr>
              <a:t>{"bmi": 22.0,</a:t>
            </a:r>
          </a:p>
          <a:p xmlns:a="http://schemas.openxmlformats.org/drawingml/2006/main">
            <a:r>
              <a:rPr lang="en-US" sz="1300" b="0">
                <a:solidFill>
                  <a:srgbClr val="1A1A2E"/>
                </a:solidFill>
                <a:latin typeface="Courier New"/>
                <a:ea typeface="Courier New"/>
              </a:rPr>
              <a:t>"category": "Normal weight"}</a:t>
            </a:r>
          </a:p>
        </p:txBody>
      </p:sp>
      <p:sp>
        <p:nvSpPr>
          <p:cNvPr id="100090" name="EP67"/>
          <p:cNvSpPr txBox="1"/>
          <p:nvPr/>
        </p:nvSpPr>
        <p:spPr>
          <a:xfrm xmlns:a="http://schemas.openxmlformats.org/drawingml/2006/main">
            <a:off x="8280000" y="3240000"/>
            <a:ext cx="3600000" cy="180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ourier New"/>
                <a:ea typeface="Courier New"/>
              </a:rPr>
              <a:t>GET  /api/plans</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Returns list of saved .md</a:t>
            </a:r>
          </a:p>
          <a:p xmlns:a="http://schemas.openxmlformats.org/drawingml/2006/main">
            <a:r>
              <a:rPr lang="en-US" sz="1200" b="0">
                <a:solidFill>
                  <a:srgbClr val="1A1A2E"/>
                </a:solidFill>
                <a:latin typeface="Courier New"/>
                <a:ea typeface="Courier New"/>
              </a:rPr>
              <a:t>files (latest 20)</a:t>
            </a:r>
          </a:p>
          <a:p xmlns:a="http://schemas.openxmlformats.org/drawingml/2006/main">
            <a:r>
              <a:rPr lang="en-US" sz="1200" b="0">
                <a:solidFill>
                  <a:srgbClr val="1A1A2E"/>
                </a:solidFill>
                <a:latin typeface="Courier New"/>
                <a:ea typeface="Courier New"/>
              </a:rPr>
              <a:t>filename, size_kb, modified</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GET  /api/download-plan/&lt;name&gt;</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Streams .md file download</a:t>
            </a:r>
          </a:p>
          <a:p xmlns:a="http://schemas.openxmlformats.org/drawingml/2006/main">
            <a:r>
              <a:rPr lang="en-US" sz="1200" b="0">
                <a:solidFill>
                  <a:srgbClr val="1A1A2E"/>
                </a:solidFill>
                <a:latin typeface="Courier New"/>
                <a:ea typeface="Courier New"/>
              </a:rPr>
              <a:t>Filename security validation</a:t>
            </a:r>
          </a:p>
          <a:p xmlns:a="http://schemas.openxmlformats.org/drawingml/2006/main">
            <a:r>
              <a:rPr lang="en-US" sz="1200" b="0">
                <a:solidFill>
                  <a:srgbClr val="1A1A2E"/>
                </a:solidFill>
                <a:latin typeface="Courier New"/>
                <a:ea typeface="Courier New"/>
              </a:rPr>
              <a:t>MIME: text/markdown</a:t>
            </a:r>
          </a:p>
        </p:txBody>
      </p:sp>
    </p:spTree>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091"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092"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REST API Endpoints</a:t>
            </a:r>
          </a:p>
        </p:txBody>
      </p:sp>
      <p:sp>
        <p:nvSpPr>
          <p:cNvPr id="100093"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10</a:t>
            </a:r>
          </a:p>
        </p:txBody>
      </p:sp>
      <p:sp>
        <p:nvSpPr>
          <p:cNvPr id="100094" name="EP1"/>
          <p:cNvSpPr txBox="1"/>
          <p:nvPr/>
        </p:nvSpPr>
        <p:spPr>
          <a:xfrm xmlns:a="http://schemas.openxmlformats.org/drawingml/2006/main">
            <a:off x="360000" y="1188000"/>
            <a:ext cx="3600000" cy="18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GET  /api/health</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Status: 200 OK</a:t>
            </a:r>
          </a:p>
          <a:p xmlns:a="http://schemas.openxmlformats.org/drawingml/2006/main">
            <a:r>
              <a:rPr lang="en-US" sz="1300" b="0">
                <a:solidFill>
                  <a:srgbClr val="1A1A2E"/>
                </a:solidFill>
                <a:latin typeface="Courier New"/>
                <a:ea typeface="Courier New"/>
              </a:rPr>
              <a:t>{"status":"ok",</a:t>
            </a:r>
          </a:p>
          <a:p xmlns:a="http://schemas.openxmlformats.org/drawingml/2006/main">
            <a:r>
              <a:rPr lang="en-US" sz="1300" b="0">
                <a:solidFill>
                  <a:srgbClr val="1A1A2E"/>
                </a:solidFill>
                <a:latin typeface="Courier New"/>
                <a:ea typeface="Courier New"/>
              </a:rPr>
              <a:t>"service":"Nutrition Agentic AI",</a:t>
            </a:r>
          </a:p>
          <a:p xmlns:a="http://schemas.openxmlformats.org/drawingml/2006/main">
            <a:r>
              <a:rPr lang="en-US" sz="1300" b="0">
                <a:solidFill>
                  <a:srgbClr val="1A1A2E"/>
                </a:solidFill>
                <a:latin typeface="Courier New"/>
                <a:ea typeface="Courier New"/>
              </a:rPr>
              <a:t>"model":"IBM Granite",</a:t>
            </a:r>
          </a:p>
          <a:p xmlns:a="http://schemas.openxmlformats.org/drawingml/2006/main">
            <a:r>
              <a:rPr lang="en-US" sz="1300" b="0">
                <a:solidFill>
                  <a:srgbClr val="1A1A2E"/>
                </a:solidFill>
                <a:latin typeface="Courier New"/>
                <a:ea typeface="Courier New"/>
              </a:rPr>
              <a:t>"version":"1.0.0"}</a:t>
            </a:r>
          </a:p>
        </p:txBody>
      </p:sp>
      <p:sp>
        <p:nvSpPr>
          <p:cNvPr id="100095" name="EP2"/>
          <p:cNvSpPr txBox="1"/>
          <p:nvPr/>
        </p:nvSpPr>
        <p:spPr>
          <a:xfrm xmlns:a="http://schemas.openxmlformats.org/drawingml/2006/main">
            <a:off x="4320000" y="1188000"/>
            <a:ext cx="3600000" cy="180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ourier New"/>
                <a:ea typeface="Courier New"/>
              </a:rPr>
              <a:t>POST  /api/generate-plan</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Body: name, age, gender,</a:t>
            </a:r>
          </a:p>
          <a:p xmlns:a="http://schemas.openxmlformats.org/drawingml/2006/main">
            <a:r>
              <a:rPr lang="en-US" sz="1200" b="0">
                <a:solidFill>
                  <a:srgbClr val="1A1A2E"/>
                </a:solidFill>
                <a:latin typeface="Courier New"/>
                <a:ea typeface="Courier New"/>
              </a:rPr>
              <a:t>diet_preference,</a:t>
            </a:r>
          </a:p>
          <a:p xmlns:a="http://schemas.openxmlformats.org/drawingml/2006/main">
            <a:r>
              <a:rPr lang="en-US" sz="1200" b="0">
                <a:solidFill>
                  <a:srgbClr val="1A1A2E"/>
                </a:solidFill>
                <a:latin typeface="Courier New"/>
                <a:ea typeface="Courier New"/>
              </a:rPr>
              <a:t>medical_history,</a:t>
            </a:r>
          </a:p>
          <a:p xmlns:a="http://schemas.openxmlformats.org/drawingml/2006/main">
            <a:r>
              <a:rPr lang="en-US" sz="1200" b="0">
                <a:solidFill>
                  <a:srgbClr val="1A1A2E"/>
                </a:solidFill>
                <a:latin typeface="Courier New"/>
                <a:ea typeface="Courier New"/>
              </a:rPr>
              <a:t>activity_level, health_goal,</a:t>
            </a:r>
          </a:p>
          <a:p xmlns:a="http://schemas.openxmlformats.org/drawingml/2006/main">
            <a:r>
              <a:rPr lang="en-US" sz="1200" b="0">
                <a:solidFill>
                  <a:srgbClr val="1A1A2E"/>
                </a:solidFill>
                <a:latin typeface="Courier New"/>
                <a:ea typeface="Courier New"/>
              </a:rPr>
              <a:t>location_city, location_country,</a:t>
            </a:r>
          </a:p>
          <a:p xmlns:a="http://schemas.openxmlformats.org/drawingml/2006/main">
            <a:r>
              <a:rPr lang="en-US" sz="1200" b="0">
                <a:solidFill>
                  <a:srgbClr val="1A1A2E"/>
                </a:solidFill>
                <a:latin typeface="Courier New"/>
                <a:ea typeface="Courier New"/>
              </a:rPr>
              <a:t>weight_kg, height_cm, allergies</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Returns: plan (markdown),</a:t>
            </a:r>
          </a:p>
          <a:p xmlns:a="http://schemas.openxmlformats.org/drawingml/2006/main">
            <a:r>
              <a:rPr lang="en-US" sz="1200" b="0">
                <a:solidFill>
                  <a:srgbClr val="1A1A2E"/>
                </a:solidFill>
                <a:latin typeface="Courier New"/>
                <a:ea typeface="Courier New"/>
              </a:rPr>
              <a:t>bmi, tdee, rda, md_filename</a:t>
            </a:r>
          </a:p>
        </p:txBody>
      </p:sp>
      <p:sp>
        <p:nvSpPr>
          <p:cNvPr id="100096" name="EP3"/>
          <p:cNvSpPr txBox="1"/>
          <p:nvPr/>
        </p:nvSpPr>
        <p:spPr>
          <a:xfrm xmlns:a="http://schemas.openxmlformats.org/drawingml/2006/main">
            <a:off x="8280000" y="1188000"/>
            <a:ext cx="3600000" cy="1800000"/>
          </a:xfrm>
          <a:prstGeom xmlns:a="http://schemas.openxmlformats.org/drawingml/2006/main" prst="rect">
            <a:avLst/>
          </a:prstGeom>
          <a:solidFill xmlns:a="http://schemas.openxmlformats.org/drawingml/2006/main">
            <a:srgbClr val="FFF3E0"/>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POST  /api/query</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Body: question (str),</a:t>
            </a:r>
          </a:p>
          <a:p xmlns:a="http://schemas.openxmlformats.org/drawingml/2006/main">
            <a:r>
              <a:rPr lang="en-US" sz="1300" b="0">
                <a:solidFill>
                  <a:srgbClr val="1A1A2E"/>
                </a:solidFill>
                <a:latin typeface="Courier New"/>
                <a:ea typeface="Courier New"/>
              </a:rPr>
              <a:t>      context (optional dict)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Returns:</a:t>
            </a:r>
          </a:p>
          <a:p xmlns:a="http://schemas.openxmlformats.org/drawingml/2006/main">
            <a:r>
              <a:rPr lang="en-US" sz="1300" b="0">
                <a:solidFill>
                  <a:srgbClr val="1A1A2E"/>
                </a:solidFill>
                <a:latin typeface="Courier New"/>
                <a:ea typeface="Courier New"/>
              </a:rPr>
              <a:t>{"success": true,</a:t>
            </a:r>
          </a:p>
          <a:p xmlns:a="http://schemas.openxmlformats.org/drawingml/2006/main">
            <a:r>
              <a:rPr lang="en-US" sz="1300" b="0">
                <a:solidFill>
                  <a:srgbClr val="1A1A2E"/>
                </a:solidFill>
                <a:latin typeface="Courier New"/>
                <a:ea typeface="Courier New"/>
              </a:rPr>
              <a:t>"answer": "..."}</a:t>
            </a:r>
          </a:p>
        </p:txBody>
      </p:sp>
      <p:sp>
        <p:nvSpPr>
          <p:cNvPr id="100097" name="EP4"/>
          <p:cNvSpPr txBox="1"/>
          <p:nvPr/>
        </p:nvSpPr>
        <p:spPr>
          <a:xfrm xmlns:a="http://schemas.openxmlformats.org/drawingml/2006/main">
            <a:off x="360000" y="3240000"/>
            <a:ext cx="3600000" cy="1800000"/>
          </a:xfrm>
          <a:prstGeom xmlns:a="http://schemas.openxmlformats.org/drawingml/2006/main" prst="rect">
            <a:avLst/>
          </a:prstGeom>
          <a:solidFill xmlns:a="http://schemas.openxmlformats.org/drawingml/2006/main">
            <a:srgbClr val="F3E5F5"/>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POST  /api/meal-swap</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Body: meal (str),</a:t>
            </a:r>
          </a:p>
          <a:p xmlns:a="http://schemas.openxmlformats.org/drawingml/2006/main">
            <a:r>
              <a:rPr lang="en-US" sz="1300" b="0">
                <a:solidFill>
                  <a:srgbClr val="1A1A2E"/>
                </a:solidFill>
                <a:latin typeface="Courier New"/>
                <a:ea typeface="Courier New"/>
              </a:rPr>
              <a:t>      reason (str),</a:t>
            </a:r>
          </a:p>
          <a:p xmlns:a="http://schemas.openxmlformats.org/drawingml/2006/main">
            <a:r>
              <a:rPr lang="en-US" sz="1300" b="0">
                <a:solidFill>
                  <a:srgbClr val="1A1A2E"/>
                </a:solidFill>
                <a:latin typeface="Courier New"/>
                <a:ea typeface="Courier New"/>
              </a:rPr>
              <a:t>      profile (dict)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Returns:</a:t>
            </a:r>
          </a:p>
          <a:p xmlns:a="http://schemas.openxmlformats.org/drawingml/2006/main">
            <a:r>
              <a:rPr lang="en-US" sz="1300" b="0">
                <a:solidFill>
                  <a:srgbClr val="1A1A2E"/>
                </a:solidFill>
                <a:latin typeface="Courier New"/>
                <a:ea typeface="Courier New"/>
              </a:rPr>
              <a:t>{"success": true,</a:t>
            </a:r>
          </a:p>
          <a:p xmlns:a="http://schemas.openxmlformats.org/drawingml/2006/main">
            <a:r>
              <a:rPr lang="en-US" sz="1300" b="0">
                <a:solidFill>
                  <a:srgbClr val="1A1A2E"/>
                </a:solidFill>
                <a:latin typeface="Courier New"/>
                <a:ea typeface="Courier New"/>
              </a:rPr>
              <a:t>"suggestions": "..."}</a:t>
            </a:r>
          </a:p>
        </p:txBody>
      </p:sp>
      <p:sp>
        <p:nvSpPr>
          <p:cNvPr id="100098" name="EP5"/>
          <p:cNvSpPr txBox="1"/>
          <p:nvPr/>
        </p:nvSpPr>
        <p:spPr>
          <a:xfrm xmlns:a="http://schemas.openxmlformats.org/drawingml/2006/main">
            <a:off x="4320000" y="3240000"/>
            <a:ext cx="3600000" cy="1800000"/>
          </a:xfrm>
          <a:prstGeom xmlns:a="http://schemas.openxmlformats.org/drawingml/2006/main" prst="rect">
            <a:avLst/>
          </a:prstGeom>
          <a:solidFill xmlns:a="http://schemas.openxmlformats.org/drawingml/2006/main">
            <a:srgbClr val="E0F7FA"/>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POST  /api/bmi</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Body: weight_kg (float),</a:t>
            </a:r>
          </a:p>
          <a:p xmlns:a="http://schemas.openxmlformats.org/drawingml/2006/main">
            <a:r>
              <a:rPr lang="en-US" sz="1300" b="0">
                <a:solidFill>
                  <a:srgbClr val="1A1A2E"/>
                </a:solidFill>
                <a:latin typeface="Courier New"/>
                <a:ea typeface="Courier New"/>
              </a:rPr>
              <a:t>      height_cm (float)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Live Result:</a:t>
            </a:r>
          </a:p>
          <a:p xmlns:a="http://schemas.openxmlformats.org/drawingml/2006/main">
            <a:r>
              <a:rPr lang="en-US" sz="1300" b="0">
                <a:solidFill>
                  <a:srgbClr val="1A1A2E"/>
                </a:solidFill>
                <a:latin typeface="Courier New"/>
                <a:ea typeface="Courier New"/>
              </a:rPr>
              <a:t>{"bmi": 22.0,</a:t>
            </a:r>
          </a:p>
          <a:p xmlns:a="http://schemas.openxmlformats.org/drawingml/2006/main">
            <a:r>
              <a:rPr lang="en-US" sz="1300" b="0">
                <a:solidFill>
                  <a:srgbClr val="1A1A2E"/>
                </a:solidFill>
                <a:latin typeface="Courier New"/>
                <a:ea typeface="Courier New"/>
              </a:rPr>
              <a:t>"category": "Normal weight"}</a:t>
            </a:r>
          </a:p>
        </p:txBody>
      </p:sp>
      <p:sp>
        <p:nvSpPr>
          <p:cNvPr id="100099" name="EP67"/>
          <p:cNvSpPr txBox="1"/>
          <p:nvPr/>
        </p:nvSpPr>
        <p:spPr>
          <a:xfrm xmlns:a="http://schemas.openxmlformats.org/drawingml/2006/main">
            <a:off x="8280000" y="3240000"/>
            <a:ext cx="3600000" cy="1800000"/>
          </a:xfrm>
          <a:prstGeom xmlns:a="http://schemas.openxmlformats.org/drawingml/2006/main" prst="rect">
            <a:avLst/>
          </a:prstGeom>
          <a:solidFill xmlns:a="http://schemas.openxmlformats.org/drawingml/2006/main">
            <a:srgbClr val="FCE4EC"/>
          </a:solidFill>
        </p:spPr>
        <p:txBody>
          <a:bodyPr xmlns:a="http://schemas.openxmlformats.org/drawingml/2006/main"/>
          <a:lstStyle xmlns:a="http://schemas.openxmlformats.org/drawingml/2006/main"/>
          <a:p xmlns:a="http://schemas.openxmlformats.org/drawingml/2006/main">
            <a:r>
              <a:rPr lang="en-US" sz="1200" b="0">
                <a:solidFill>
                  <a:srgbClr val="1A1A2E"/>
                </a:solidFill>
                <a:latin typeface="Courier New"/>
                <a:ea typeface="Courier New"/>
              </a:rPr>
              <a:t>GET  /api/plans</a:t>
            </a:r>
          </a:p>
          <a:p xmlns:a="http://schemas.openxmlformats.org/drawingml/2006/main">
            <a:r>
              <a:rPr lang="en-US" sz="1200" b="0">
                <a:solidFill>
                  <a:srgbClr val="1A1A2E"/>
                </a:solidFill>
                <a:latin typeface="Courier New"/>
                <a:ea typeface="Courier New"/>
              </a:rPr>
              <a:t>Returns list of saved .md</a:t>
            </a:r>
          </a:p>
          <a:p xmlns:a="http://schemas.openxmlformats.org/drawingml/2006/main">
            <a:r>
              <a:rPr lang="en-US" sz="1200" b="0">
                <a:solidFill>
                  <a:srgbClr val="1A1A2E"/>
                </a:solidFill>
                <a:latin typeface="Courier New"/>
                <a:ea typeface="Courier New"/>
              </a:rPr>
              <a:t>files (latest 20)</a:t>
            </a:r>
          </a:p>
          <a:p xmlns:a="http://schemas.openxmlformats.org/drawingml/2006/main">
            <a:r>
              <a:rPr lang="en-US" sz="1200" b="0">
                <a:solidFill>
                  <a:srgbClr val="1A1A2E"/>
                </a:solidFill>
                <a:latin typeface="Courier New"/>
                <a:ea typeface="Courier New"/>
              </a:rPr>
              <a:t>filename, size_kb, modified</a:t>
            </a:r>
          </a:p>
          <a:p xmlns:a="http://schemas.openxmlformats.org/drawingml/2006/main">
            <a:r>
              <a:rPr lang="en-US" sz="1200" b="0">
                <a:solidFill>
                  <a:srgbClr val="1A1A2E"/>
                </a:solidFill>
                <a:latin typeface="Courier New"/>
                <a:ea typeface="Courier New"/>
              </a:rPr>
              <a:t/>
            </a:r>
          </a:p>
          <a:p xmlns:a="http://schemas.openxmlformats.org/drawingml/2006/main">
            <a:r>
              <a:rPr lang="en-US" sz="1200" b="0">
                <a:solidFill>
                  <a:srgbClr val="1A1A2E"/>
                </a:solidFill>
                <a:latin typeface="Courier New"/>
                <a:ea typeface="Courier New"/>
              </a:rPr>
              <a:t>GET  /api/download-plan/&lt;name&gt;</a:t>
            </a:r>
          </a:p>
          <a:p xmlns:a="http://schemas.openxmlformats.org/drawingml/2006/main">
            <a:r>
              <a:rPr lang="en-US" sz="1200" b="0">
                <a:solidFill>
                  <a:srgbClr val="1A1A2E"/>
                </a:solidFill>
                <a:latin typeface="Courier New"/>
                <a:ea typeface="Courier New"/>
              </a:rPr>
              <a:t>Streams .md file download</a:t>
            </a:r>
          </a:p>
          <a:p xmlns:a="http://schemas.openxmlformats.org/drawingml/2006/main">
            <a:r>
              <a:rPr lang="en-US" sz="1200" b="0">
                <a:solidFill>
                  <a:srgbClr val="1A1A2E"/>
                </a:solidFill>
                <a:latin typeface="Courier New"/>
                <a:ea typeface="Courier New"/>
              </a:rPr>
              <a:t>Filename security validation</a:t>
            </a:r>
          </a:p>
          <a:p xmlns:a="http://schemas.openxmlformats.org/drawingml/2006/main">
            <a:r>
              <a:rPr lang="en-US" sz="1200" b="0">
                <a:solidFill>
                  <a:srgbClr val="1A1A2E"/>
                </a:solidFill>
                <a:latin typeface="Courier New"/>
                <a:ea typeface="Courier New"/>
              </a:rPr>
              <a:t>MIME: text/markdown</a:t>
            </a:r>
          </a:p>
        </p:txBody>
      </p:sp>
    </p:spTree>
  </p:cSld>
</p:sld>
</file>

<file path=ppt/slides/slide1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p:sp>
        <p:nvSpPr>
          <p:cNvPr id="100100"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101"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400" b="1">
                <a:solidFill>
                  <a:srgbClr val="FFFFFF"/>
                </a:solidFill>
                <a:latin typeface="Calibri"/>
                <a:ea typeface="Calibri"/>
              </a:rPr>
              <a:t>Web Application — Ask NutriAI &amp; Saved Plans</a:t>
            </a:r>
          </a:p>
        </p:txBody>
      </p:sp>
      <p:sp>
        <p:nvSpPr>
          <p:cNvPr id="100102"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12</a:t>
            </a:r>
          </a:p>
        </p:txBody>
      </p:sp>
      <p:sp>
        <p:nvSpPr>
          <p:cNvPr id="100103" name="ChatLabel"/>
          <p:cNvSpPr txBox="1"/>
          <p:nvPr/>
        </p:nvSpPr>
        <p:spPr>
          <a:xfrm xmlns:a="http://schemas.openxmlformats.org/drawingml/2006/main">
            <a:off x="360000" y="1188000"/>
            <a:ext cx="5400000" cy="28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ASK NUTRIAI — Conversational Q&amp;A Panel</a:t>
            </a:r>
          </a:p>
        </p:txBody>
      </p:sp>
      <p:sp>
        <p:nvSpPr>
          <p:cNvPr id="100104" name="ChatMock"/>
          <p:cNvSpPr txBox="1"/>
          <p:nvPr/>
        </p:nvSpPr>
        <p:spPr>
          <a:xfrm xmlns:a="http://schemas.openxmlformats.org/drawingml/2006/main">
            <a:off x="360000" y="1548000"/>
            <a:ext cx="5400000" cy="378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100" b="0">
                <a:solidFill>
                  <a:srgbClr val="1A1A2E"/>
                </a:solidFill>
                <a:latin typeface="Courier New"/>
                <a:ea typeface="Courier New"/>
              </a:rPr>
              <a:t>  NutriAI  Powered by IBM Granite</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[BOT] Hello! I'm NutriAI. I can answer</a:t>
            </a:r>
          </a:p>
          <a:p xmlns:a="http://schemas.openxmlformats.org/drawingml/2006/main">
            <a:r>
              <a:rPr lang="en-US" sz="1100" b="0">
                <a:solidFill>
                  <a:srgbClr val="1A1A2E"/>
                </a:solidFill>
                <a:latin typeface="Courier New"/>
                <a:ea typeface="Courier New"/>
              </a:rPr>
              <a:t>questions about healthy eating, vitamins,</a:t>
            </a:r>
          </a:p>
          <a:p xmlns:a="http://schemas.openxmlformats.org/drawingml/2006/main">
            <a:r>
              <a:rPr lang="en-US" sz="1100" b="0">
                <a:solidFill>
                  <a:srgbClr val="1A1A2E"/>
                </a:solidFill>
                <a:latin typeface="Courier New"/>
                <a:ea typeface="Courier New"/>
              </a:rPr>
              <a:t>diet for medical conditions, and more.</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[Quick] What foods help manage blood sugar?</a:t>
            </a:r>
          </a:p>
          <a:p xmlns:a="http://schemas.openxmlformats.org/drawingml/2006/main">
            <a:r>
              <a:rPr lang="en-US" sz="1100" b="0">
                <a:solidFill>
                  <a:srgbClr val="1A1A2E"/>
                </a:solidFill>
                <a:latin typeface="Courier New"/>
                <a:ea typeface="Courier New"/>
              </a:rPr>
              <a:t>[Quick] High-protein veg breakfast ideas</a:t>
            </a:r>
          </a:p>
          <a:p xmlns:a="http://schemas.openxmlformats.org/drawingml/2006/main">
            <a:r>
              <a:rPr lang="en-US" sz="1100" b="0">
                <a:solidFill>
                  <a:srgbClr val="1A1A2E"/>
                </a:solidFill>
                <a:latin typeface="Courier New"/>
                <a:ea typeface="Courier New"/>
              </a:rPr>
              <a:t>[Quick] Daily water intake recommendations</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[USER] What foods are good for weight loss?</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[BOT] That's a great question! Based on</a:t>
            </a:r>
          </a:p>
          <a:p xmlns:a="http://schemas.openxmlformats.org/drawingml/2006/main">
            <a:r>
              <a:rPr lang="en-US" sz="1100" b="0">
                <a:solidFill>
                  <a:srgbClr val="1A1A2E"/>
                </a:solidFill>
                <a:latin typeface="Courier New"/>
                <a:ea typeface="Courier New"/>
              </a:rPr>
              <a:t>general nutrition science, a balanced diet</a:t>
            </a:r>
          </a:p>
          <a:p xmlns:a="http://schemas.openxmlformats.org/drawingml/2006/main">
            <a:r>
              <a:rPr lang="en-US" sz="1100" b="0">
                <a:solidFill>
                  <a:srgbClr val="1A1A2E"/>
                </a:solidFill>
                <a:latin typeface="Courier New"/>
                <a:ea typeface="Courier New"/>
              </a:rPr>
              <a:t>rich in whole grains, lean proteins,</a:t>
            </a:r>
          </a:p>
          <a:p xmlns:a="http://schemas.openxmlformats.org/drawingml/2006/main">
            <a:r>
              <a:rPr lang="en-US" sz="1100" b="0">
                <a:solidFill>
                  <a:srgbClr val="1A1A2E"/>
                </a:solidFill>
                <a:latin typeface="Courier New"/>
                <a:ea typeface="Courier New"/>
              </a:rPr>
              <a:t>colourful vegetables, and healthy fats</a:t>
            </a:r>
          </a:p>
          <a:p xmlns:a="http://schemas.openxmlformats.org/drawingml/2006/main">
            <a:r>
              <a:rPr lang="en-US" sz="1100" b="0">
                <a:solidFill>
                  <a:srgbClr val="1A1A2E"/>
                </a:solidFill>
                <a:latin typeface="Courier New"/>
                <a:ea typeface="Courier New"/>
              </a:rPr>
              <a:t>supports overall well-being...</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 Type a nutrition question...  ] [Send]</a:t>
            </a:r>
          </a:p>
        </p:txBody>
      </p:sp>
      <p:sp>
        <p:nvSpPr>
          <p:cNvPr id="100105" name="SavedLabel"/>
          <p:cNvSpPr txBox="1"/>
          <p:nvPr/>
        </p:nvSpPr>
        <p:spPr>
          <a:xfrm xmlns:a="http://schemas.openxmlformats.org/drawingml/2006/main">
            <a:off x="6300000" y="1188000"/>
            <a:ext cx="5220000" cy="288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r>
              <a:rPr lang="en-US" sz="1400" b="1">
                <a:solidFill>
                  <a:srgbClr val="FFFFFF"/>
                </a:solidFill>
                <a:latin typeface="Calibri"/>
                <a:ea typeface="Calibri"/>
              </a:rPr>
              <a:t>SAVED PLANS — Download Panel</a:t>
            </a:r>
          </a:p>
        </p:txBody>
      </p:sp>
      <p:sp>
        <p:nvSpPr>
          <p:cNvPr id="100106" name="SavedMock"/>
          <p:cNvSpPr txBox="1"/>
          <p:nvPr/>
        </p:nvSpPr>
        <p:spPr>
          <a:xfrm xmlns:a="http://schemas.openxmlformats.org/drawingml/2006/main">
            <a:off x="6300000" y="1548000"/>
            <a:ext cx="5220000" cy="3780000"/>
          </a:xfrm>
          <a:prstGeom xmlns:a="http://schemas.openxmlformats.org/drawingml/2006/main" prst="rect">
            <a:avLst/>
          </a:prstGeom>
          <a:solidFill xmlns:a="http://schemas.openxmlformats.org/drawingml/2006/main">
            <a:srgbClr val="FFFFFF"/>
          </a:solidFill>
        </p:spPr>
        <p:txBody>
          <a:bodyPr xmlns:a="http://schemas.openxmlformats.org/drawingml/2006/main"/>
          <a:lstStyle xmlns:a="http://schemas.openxmlformats.org/drawingml/2006/main"/>
          <a:p xmlns:a="http://schemas.openxmlformats.org/drawingml/2006/main">
            <a:r>
              <a:rPr lang="en-US" sz="1100" b="0">
                <a:solidFill>
                  <a:srgbClr val="1A1A2E"/>
                </a:solidFill>
                <a:latin typeface="Courier New"/>
                <a:ea typeface="Courier New"/>
              </a:rPr>
              <a:t>  Saved Nutrition Plans        [Refresh]</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  nutrition_plan_priya_sharma_</a:t>
            </a:r>
          </a:p>
          <a:p xmlns:a="http://schemas.openxmlformats.org/drawingml/2006/main">
            <a:r>
              <a:rPr lang="en-US" sz="1100" b="0">
                <a:solidFill>
                  <a:srgbClr val="1A1A2E"/>
                </a:solidFill>
                <a:latin typeface="Courier New"/>
                <a:ea typeface="Courier New"/>
              </a:rPr>
              <a:t>  20261013_140506.md</a:t>
            </a:r>
          </a:p>
          <a:p xmlns:a="http://schemas.openxmlformats.org/drawingml/2006/main">
            <a:r>
              <a:rPr lang="en-US" sz="1100" b="0">
                <a:solidFill>
                  <a:srgbClr val="1A1A2E"/>
                </a:solidFill>
                <a:latin typeface="Courier New"/>
                <a:ea typeface="Courier New"/>
              </a:rPr>
              <a:t>  Size: 4.2 KB</a:t>
            </a:r>
          </a:p>
          <a:p xmlns:a="http://schemas.openxmlformats.org/drawingml/2006/main">
            <a:r>
              <a:rPr lang="en-US" sz="1100" b="0">
                <a:solidFill>
                  <a:srgbClr val="1A1A2E"/>
                </a:solidFill>
                <a:latin typeface="Courier New"/>
                <a:ea typeface="Courier New"/>
              </a:rPr>
              <a:t>  [Download]</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  nutrition_plan_test_user_</a:t>
            </a:r>
          </a:p>
          <a:p xmlns:a="http://schemas.openxmlformats.org/drawingml/2006/main">
            <a:r>
              <a:rPr lang="en-US" sz="1100" b="0">
                <a:solidFill>
                  <a:srgbClr val="1A1A2E"/>
                </a:solidFill>
                <a:latin typeface="Courier New"/>
                <a:ea typeface="Courier New"/>
              </a:rPr>
              <a:t>  20261013_143756.md</a:t>
            </a:r>
          </a:p>
          <a:p xmlns:a="http://schemas.openxmlformats.org/drawingml/2006/main">
            <a:r>
              <a:rPr lang="en-US" sz="1100" b="0">
                <a:solidFill>
                  <a:srgbClr val="1A1A2E"/>
                </a:solidFill>
                <a:latin typeface="Courier New"/>
                <a:ea typeface="Courier New"/>
              </a:rPr>
              <a:t>  Size: 3.8 KB</a:t>
            </a:r>
          </a:p>
          <a:p xmlns:a="http://schemas.openxmlformats.org/drawingml/2006/main">
            <a:r>
              <a:rPr lang="en-US" sz="1100" b="0">
                <a:solidFill>
                  <a:srgbClr val="1A1A2E"/>
                </a:solidFill>
                <a:latin typeface="Courier New"/>
                <a:ea typeface="Courier New"/>
              </a:rPr>
              <a:t>  [Download]</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  nutrition_plan_sample_user_</a:t>
            </a:r>
          </a:p>
          <a:p xmlns:a="http://schemas.openxmlformats.org/drawingml/2006/main">
            <a:r>
              <a:rPr lang="en-US" sz="1100" b="0">
                <a:solidFill>
                  <a:srgbClr val="1A1A2E"/>
                </a:solidFill>
                <a:latin typeface="Courier New"/>
                <a:ea typeface="Courier New"/>
              </a:rPr>
              <a:t>  demo.md</a:t>
            </a:r>
          </a:p>
          <a:p xmlns:a="http://schemas.openxmlformats.org/drawingml/2006/main">
            <a:r>
              <a:rPr lang="en-US" sz="1100" b="0">
                <a:solidFill>
                  <a:srgbClr val="1A1A2E"/>
                </a:solidFill>
                <a:latin typeface="Courier New"/>
                <a:ea typeface="Courier New"/>
              </a:rPr>
              <a:t>  Size: 5.1 KB</a:t>
            </a:r>
          </a:p>
          <a:p xmlns:a="http://schemas.openxmlformats.org/drawingml/2006/main">
            <a:r>
              <a:rPr lang="en-US" sz="1100" b="0">
                <a:solidFill>
                  <a:srgbClr val="1A1A2E"/>
                </a:solidFill>
                <a:latin typeface="Courier New"/>
                <a:ea typeface="Courier New"/>
              </a:rPr>
              <a:t>  [Download]</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  Plans auto-saved on generation</a:t>
            </a:r>
          </a:p>
          <a:p xmlns:a="http://schemas.openxmlformats.org/drawingml/2006/main">
            <a:r>
              <a:rPr lang="en-US" sz="1100" b="0">
                <a:solidFill>
                  <a:srgbClr val="1A1A2E"/>
                </a:solidFill>
                <a:latin typeface="Courier New"/>
                <a:ea typeface="Courier New"/>
              </a:rPr>
              <a:t>  Format: nutrition_plan_&lt;name&gt;_</a:t>
            </a:r>
          </a:p>
          <a:p xmlns:a="http://schemas.openxmlformats.org/drawingml/2006/main">
            <a:r>
              <a:rPr lang="en-US" sz="1100" b="0">
                <a:solidFill>
                  <a:srgbClr val="1A1A2E"/>
                </a:solidFill>
                <a:latin typeface="Courier New"/>
                <a:ea typeface="Courier New"/>
              </a:rPr>
              <a:t>          &lt;YYYYMMDD&gt;_&lt;HHMMSS&gt;.md</a:t>
            </a:r>
          </a:p>
        </p:txBody>
      </p:sp>
      <p:sp>
        <p:nvSpPr>
          <p:cNvPr id="100107" name="HealthCheck"/>
          <p:cNvSpPr txBox="1"/>
          <p:nvPr/>
        </p:nvSpPr>
        <p:spPr>
          <a:xfrm xmlns:a="http://schemas.openxmlformats.org/drawingml/2006/main">
            <a:off x="360000" y="5472000"/>
            <a:ext cx="11160000" cy="576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100" b="0">
                <a:solidFill>
                  <a:srgbClr val="1A1A2E"/>
                </a:solidFill>
                <a:latin typeface="Courier New"/>
                <a:ea typeface="Courier New"/>
              </a:rPr>
              <a:t>LIVE SERVER OUTPUT  —  Verified at http://localhost:5000</a:t>
            </a:r>
          </a:p>
          <a:p xmlns:a="http://schemas.openxmlformats.org/drawingml/2006/main">
            <a:r>
              <a:rPr lang="en-US" sz="1100" b="0">
                <a:solidFill>
                  <a:srgbClr val="1A1A2E"/>
                </a:solidFill>
                <a:latin typeface="Courier New"/>
                <a:ea typeface="Courier New"/>
              </a:rPr>
              <a:t/>
            </a:r>
          </a:p>
          <a:p xmlns:a="http://schemas.openxmlformats.org/drawingml/2006/main">
            <a:r>
              <a:rPr lang="en-US" sz="1100" b="0">
                <a:solidFill>
                  <a:srgbClr val="1A1A2E"/>
                </a:solidFill>
                <a:latin typeface="Courier New"/>
                <a:ea typeface="Courier New"/>
              </a:rPr>
              <a:t>GET  /api/health  =&gt;  {"status":"ok","service":"Nutrition Agentic AI","model":"IBM Granite (watsonx.ai)","version":"1.0.0"}</a:t>
            </a:r>
          </a:p>
          <a:p xmlns:a="http://schemas.openxmlformats.org/drawingml/2006/main">
            <a:r>
              <a:rPr lang="en-US" sz="1100" b="0">
                <a:solidFill>
                  <a:srgbClr val="1A1A2E"/>
                </a:solidFill>
                <a:latin typeface="Courier New"/>
                <a:ea typeface="Courier New"/>
              </a:rPr>
              <a:t>POST /api/query   =&gt;  {"success":true,"answer":"That's a great question! Based on general nutrition science..."}</a:t>
            </a:r>
          </a:p>
        </p:txBody>
      </p:sp>
    </p:spTree>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08"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109"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Project Structure &amp; File Overview</a:t>
            </a:r>
          </a:p>
        </p:txBody>
      </p:sp>
      <p:sp>
        <p:nvSpPr>
          <p:cNvPr id="100110"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13</a:t>
            </a:r>
          </a:p>
        </p:txBody>
      </p:sp>
      <p:sp>
        <p:nvSpPr>
          <p:cNvPr id="100111" name="Tree"/>
          <p:cNvSpPr txBox="1"/>
          <p:nvPr/>
        </p:nvSpPr>
        <p:spPr>
          <a:xfrm xmlns:a="http://schemas.openxmlformats.org/drawingml/2006/main">
            <a:off x="360000" y="1188000"/>
            <a:ext cx="11160000" cy="486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400" b="0">
                <a:solidFill>
                  <a:srgbClr val="1A1A2E"/>
                </a:solidFill>
                <a:latin typeface="Courier New"/>
                <a:ea typeface="Courier New"/>
              </a:rPr>
              <a:t>nutrition_ai/</a:t>
            </a:r>
          </a:p>
          <a:p xmlns:a="http://schemas.openxmlformats.org/drawingml/2006/main">
            <a:r>
              <a:rPr lang="en-US" sz="1400" b="0">
                <a:solidFill>
                  <a:srgbClr val="1A1A2E"/>
                </a:solidFill>
                <a:latin typeface="Courier New"/>
                <a:ea typeface="Courier New"/>
              </a:rPr>
              <a:t>  app.py              Flask REST API server — 7 endpoints, error handlers</a:t>
            </a:r>
          </a:p>
          <a:p xmlns:a="http://schemas.openxmlformats.org/drawingml/2006/main">
            <a:r>
              <a:rPr lang="en-US" sz="1400" b="0">
                <a:solidFill>
                  <a:srgbClr val="1A1A2E"/>
                </a:solidFill>
                <a:latin typeface="Courier New"/>
                <a:ea typeface="Courier New"/>
              </a:rPr>
              <a:t>  requirements.txt    5 pinned Python dependencies</a:t>
            </a:r>
          </a:p>
          <a:p xmlns:a="http://schemas.openxmlformats.org/drawingml/2006/main">
            <a:r>
              <a:rPr lang="en-US" sz="1400" b="0">
                <a:solidFill>
                  <a:srgbClr val="1A1A2E"/>
                </a:solidFill>
                <a:latin typeface="Courier New"/>
                <a:ea typeface="Courier New"/>
              </a:rPr>
              <a:t>  .env.example        Environment variable template (API keys)</a:t>
            </a:r>
          </a:p>
          <a:p xmlns:a="http://schemas.openxmlformats.org/drawingml/2006/main">
            <a:r>
              <a:rPr lang="en-US" sz="1400" b="0">
                <a:solidFill>
                  <a:srgbClr val="1A1A2E"/>
                </a:solidFill>
                <a:latin typeface="Courier New"/>
                <a:ea typeface="Courier New"/>
              </a:rPr>
              <a:t>  .gitignore          Excludes venv/, __pycache__, .env, plans/*.md</a:t>
            </a:r>
          </a:p>
          <a:p xmlns:a="http://schemas.openxmlformats.org/drawingml/2006/main">
            <a:r>
              <a:rPr lang="en-US" sz="1400" b="0">
                <a:solidFill>
                  <a:srgbClr val="1A1A2E"/>
                </a:solidFill>
                <a:latin typeface="Courier New"/>
                <a:ea typeface="Courier New"/>
              </a:rPr>
              <a:t>  run.bat             Windows one-click launcher (auto setup + launch)</a:t>
            </a:r>
          </a:p>
          <a:p xmlns:a="http://schemas.openxmlformats.org/drawingml/2006/main">
            <a:r>
              <a:rPr lang="en-US" sz="1400" b="0">
                <a:solidFill>
                  <a:srgbClr val="1A1A2E"/>
                </a:solidFill>
                <a:latin typeface="Courier New"/>
                <a:ea typeface="Courier New"/>
              </a:rPr>
              <a:t>  README.md           GitHub-ready docs with badges &amp; setup guide</a:t>
            </a:r>
          </a:p>
          <a:p xmlns:a="http://schemas.openxmlformats.org/drawingml/2006/main">
            <a:r>
              <a:rPr lang="en-US" sz="1400" b="0">
                <a:solidFill>
                  <a:srgbClr val="1A1A2E"/>
                </a:solidFill>
                <a:latin typeface="Courier New"/>
                <a:ea typeface="Courier New"/>
              </a:rPr>
              <a:t>  plans/</a:t>
            </a:r>
          </a:p>
          <a:p xmlns:a="http://schemas.openxmlformats.org/drawingml/2006/main">
            <a:r>
              <a:rPr lang="en-US" sz="1400" b="0">
                <a:solidFill>
                  <a:srgbClr val="1A1A2E"/>
                </a:solidFill>
                <a:latin typeface="Courier New"/>
                <a:ea typeface="Courier New"/>
              </a:rPr>
              <a:t>    sample_nutrition_plan_demo.md    Full demo plan (7 days, micronutrients)</a:t>
            </a:r>
          </a:p>
          <a:p xmlns:a="http://schemas.openxmlformats.org/drawingml/2006/main">
            <a:r>
              <a:rPr lang="en-US" sz="1400" b="0">
                <a:solidFill>
                  <a:srgbClr val="1A1A2E"/>
                </a:solidFill>
                <a:latin typeface="Courier New"/>
                <a:ea typeface="Courier New"/>
              </a:rPr>
              <a:t>    nutrition_plan_&lt;name&gt;_&lt;ts&gt;.md    Auto-generated on each plan request</a:t>
            </a:r>
          </a:p>
          <a:p xmlns:a="http://schemas.openxmlformats.org/drawingml/2006/main">
            <a:r>
              <a:rPr lang="en-US" sz="1400" b="0">
                <a:solidFill>
                  <a:srgbClr val="1A1A2E"/>
                </a:solidFill>
                <a:latin typeface="Courier New"/>
                <a:ea typeface="Courier New"/>
              </a:rPr>
              <a:t>  agent/</a:t>
            </a:r>
          </a:p>
          <a:p xmlns:a="http://schemas.openxmlformats.org/drawingml/2006/main">
            <a:r>
              <a:rPr lang="en-US" sz="1400" b="0">
                <a:solidFill>
                  <a:srgbClr val="1A1A2E"/>
                </a:solidFill>
                <a:latin typeface="Courier New"/>
                <a:ea typeface="Courier New"/>
              </a:rPr>
              <a:t>    __init__.py          Exports NutritionAgent</a:t>
            </a:r>
          </a:p>
          <a:p xmlns:a="http://schemas.openxmlformats.org/drawingml/2006/main">
            <a:r>
              <a:rPr lang="en-US" sz="1400" b="0">
                <a:solidFill>
                  <a:srgbClr val="1A1A2E"/>
                </a:solidFill>
                <a:latin typeface="Courier New"/>
                <a:ea typeface="Courier New"/>
              </a:rPr>
              <a:t>    agent.py             Core SDLC loop: NutritionAgent + NutritionTools</a:t>
            </a:r>
          </a:p>
          <a:p xmlns:a="http://schemas.openxmlformats.org/drawingml/2006/main">
            <a:r>
              <a:rPr lang="en-US" sz="1400" b="0">
                <a:solidFill>
                  <a:srgbClr val="1A1A2E"/>
                </a:solidFill>
                <a:latin typeface="Courier New"/>
                <a:ea typeface="Courier New"/>
              </a:rPr>
              <a:t>    granite_client.py    IBM watsonx.ai SDK + REST fallback + Demo mode</a:t>
            </a:r>
          </a:p>
          <a:p xmlns:a="http://schemas.openxmlformats.org/drawingml/2006/main">
            <a:r>
              <a:rPr lang="en-US" sz="1400" b="0">
                <a:solidFill>
                  <a:srgbClr val="1A1A2E"/>
                </a:solidFill>
                <a:latin typeface="Courier New"/>
                <a:ea typeface="Courier New"/>
              </a:rPr>
              <a:t>    guardrails.py        HAM tone, input/output safety, disclaimer</a:t>
            </a:r>
          </a:p>
          <a:p xmlns:a="http://schemas.openxmlformats.org/drawingml/2006/main">
            <a:r>
              <a:rPr lang="en-US" sz="1400" b="0">
                <a:solidFill>
                  <a:srgbClr val="1A1A2E"/>
                </a:solidFill>
                <a:latin typeface="Courier New"/>
                <a:ea typeface="Courier New"/>
              </a:rPr>
              <a:t>    prompts.py           Prompt templates for plan, Q&amp;A, meal swap</a:t>
            </a:r>
          </a:p>
          <a:p xmlns:a="http://schemas.openxmlformats.org/drawingml/2006/main">
            <a:r>
              <a:rPr lang="en-US" sz="1400" b="0">
                <a:solidFill>
                  <a:srgbClr val="1A1A2E"/>
                </a:solidFill>
                <a:latin typeface="Courier New"/>
                <a:ea typeface="Courier New"/>
              </a:rPr>
              <a:t>  static/</a:t>
            </a:r>
          </a:p>
          <a:p xmlns:a="http://schemas.openxmlformats.org/drawingml/2006/main">
            <a:r>
              <a:rPr lang="en-US" sz="1400" b="0">
                <a:solidFill>
                  <a:srgbClr val="1A1A2E"/>
                </a:solidFill>
                <a:latin typeface="Courier New"/>
                <a:ea typeface="Courier New"/>
              </a:rPr>
              <a:t>    index.html           Single-page app — 3 panels, responsive</a:t>
            </a:r>
          </a:p>
          <a:p xmlns:a="http://schemas.openxmlformats.org/drawingml/2006/main">
            <a:r>
              <a:rPr lang="en-US" sz="1400" b="0">
                <a:solidFill>
                  <a:srgbClr val="1A1A2E"/>
                </a:solidFill>
                <a:latin typeface="Courier New"/>
                <a:ea typeface="Courier New"/>
              </a:rPr>
              <a:t>    style.css            Responsive CSS (dark header, card layout)</a:t>
            </a:r>
          </a:p>
          <a:p xmlns:a="http://schemas.openxmlformats.org/drawingml/2006/main">
            <a:r>
              <a:rPr lang="en-US" sz="1400" b="0">
                <a:solidFill>
                  <a:srgbClr val="1A1A2E"/>
                </a:solidFill>
                <a:latin typeface="Courier New"/>
                <a:ea typeface="Courier New"/>
              </a:rPr>
              <a:t>    app.js               API calls, BMI display, markdown rendering</a:t>
            </a:r>
          </a:p>
        </p:txBody>
      </p:sp>
    </p:spTree>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12"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113"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GitHub Deployment — Live Repository</a:t>
            </a:r>
          </a:p>
        </p:txBody>
      </p:sp>
      <p:sp>
        <p:nvSpPr>
          <p:cNvPr id="100114"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14</a:t>
            </a:r>
          </a:p>
        </p:txBody>
      </p:sp>
      <p:sp>
        <p:nvSpPr>
          <p:cNvPr id="100115" name="RepoBox"/>
          <p:cNvSpPr txBox="1"/>
          <p:nvPr/>
        </p:nvSpPr>
        <p:spPr>
          <a:xfrm xmlns:a="http://schemas.openxmlformats.org/drawingml/2006/main">
            <a:off x="360000" y="1188000"/>
            <a:ext cx="11160000" cy="1008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800" b="0">
                <a:solidFill>
                  <a:srgbClr val="FFFFFF"/>
                </a:solidFill>
                <a:latin typeface="Calibri"/>
                <a:ea typeface="Calibri"/>
              </a:rPr>
              <a:t>REPOSITORY</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github.com/diyabhikadiya7/-Nutrition-Agentic-AI-Application</a:t>
            </a:r>
          </a:p>
          <a:p xmlns:a="http://schemas.openxmlformats.org/drawingml/2006/main">
            <a:r>
              <a:rPr lang="en-US" sz="1800" b="0">
                <a:solidFill>
                  <a:srgbClr val="FFFFFF"/>
                </a:solidFill>
                <a:latin typeface="Calibri"/>
                <a:ea typeface="Calibri"/>
              </a:rPr>
              <a:t/>
            </a:r>
          </a:p>
          <a:p xmlns:a="http://schemas.openxmlformats.org/drawingml/2006/main">
            <a:r>
              <a:rPr lang="en-US" sz="1800" b="0">
                <a:solidFill>
                  <a:srgbClr val="FFFFFF"/>
                </a:solidFill>
                <a:latin typeface="Calibri"/>
                <a:ea typeface="Calibri"/>
              </a:rPr>
              <a:t>Branch: main</a:t>
            </a:r>
          </a:p>
          <a:p xmlns:a="http://schemas.openxmlformats.org/drawingml/2006/main">
            <a:r>
              <a:rPr lang="en-US" sz="1800" b="0">
                <a:solidFill>
                  <a:srgbClr val="FFFFFF"/>
                </a:solidFill>
                <a:latin typeface="Calibri"/>
                <a:ea typeface="Calibri"/>
              </a:rPr>
              <a:t>Commits: 2</a:t>
            </a:r>
          </a:p>
          <a:p xmlns:a="http://schemas.openxmlformats.org/drawingml/2006/main">
            <a:r>
              <a:rPr lang="en-US" sz="1800" b="0">
                <a:solidFill>
                  <a:srgbClr val="FFFFFF"/>
                </a:solidFill>
                <a:latin typeface="Calibri"/>
                <a:ea typeface="Calibri"/>
              </a:rPr>
              <a:t>Files: 15 source files tracked</a:t>
            </a:r>
          </a:p>
        </p:txBody>
      </p:sp>
      <p:sp>
        <p:nvSpPr>
          <p:cNvPr id="100116" name="Commit1"/>
          <p:cNvSpPr txBox="1"/>
          <p:nvPr/>
        </p:nvSpPr>
        <p:spPr>
          <a:xfrm xmlns:a="http://schemas.openxmlformats.org/drawingml/2006/main">
            <a:off x="360000" y="2340000"/>
            <a:ext cx="5400000" cy="2700000"/>
          </a:xfrm>
          <a:prstGeom xmlns:a="http://schemas.openxmlformats.org/drawingml/2006/main" prst="rect">
            <a:avLst/>
          </a:prstGeom>
          <a:solidFill xmlns:a="http://schemas.openxmlformats.org/drawingml/2006/main">
            <a:srgbClr val="E3F2FD"/>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COMMIT 1  —  e54d8de</a:t>
            </a:r>
          </a:p>
          <a:p xmlns:a="http://schemas.openxmlformats.org/drawingml/2006/main">
            <a:r>
              <a:rPr lang="en-US" sz="1500" b="0">
                <a:solidFill>
                  <a:srgbClr val="1A1A2E"/>
                </a:solidFill>
                <a:latin typeface="Calibri"/>
                <a:ea typeface="Calibri"/>
              </a:rPr>
              <a:t>Initial commit: Nutrition Agentic AI Application</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Files added (15):</a:t>
            </a:r>
          </a:p>
          <a:p xmlns:a="http://schemas.openxmlformats.org/drawingml/2006/main">
            <a:r>
              <a:rPr lang="en-US" sz="1500" b="0">
                <a:solidFill>
                  <a:srgbClr val="1A1A2E"/>
                </a:solidFill>
                <a:latin typeface="Calibri"/>
                <a:ea typeface="Calibri"/>
              </a:rPr>
              <a:t>  .env.example, .gitignore, README.md</a:t>
            </a:r>
          </a:p>
          <a:p xmlns:a="http://schemas.openxmlformats.org/drawingml/2006/main">
            <a:r>
              <a:rPr lang="en-US" sz="1500" b="0">
                <a:solidFill>
                  <a:srgbClr val="1A1A2E"/>
                </a:solidFill>
                <a:latin typeface="Calibri"/>
                <a:ea typeface="Calibri"/>
              </a:rPr>
              <a:t>  agent/__init__.py, agent/agent.py</a:t>
            </a:r>
          </a:p>
          <a:p xmlns:a="http://schemas.openxmlformats.org/drawingml/2006/main">
            <a:r>
              <a:rPr lang="en-US" sz="1500" b="0">
                <a:solidFill>
                  <a:srgbClr val="1A1A2E"/>
                </a:solidFill>
                <a:latin typeface="Calibri"/>
                <a:ea typeface="Calibri"/>
              </a:rPr>
              <a:t>  agent/granite_client.py, agent/guardrails.py</a:t>
            </a:r>
          </a:p>
          <a:p xmlns:a="http://schemas.openxmlformats.org/drawingml/2006/main">
            <a:r>
              <a:rPr lang="en-US" sz="1500" b="0">
                <a:solidFill>
                  <a:srgbClr val="1A1A2E"/>
                </a:solidFill>
                <a:latin typeface="Calibri"/>
                <a:ea typeface="Calibri"/>
              </a:rPr>
              <a:t>  agent/prompts.py, app.py</a:t>
            </a:r>
          </a:p>
          <a:p xmlns:a="http://schemas.openxmlformats.org/drawingml/2006/main">
            <a:r>
              <a:rPr lang="en-US" sz="1500" b="0">
                <a:solidFill>
                  <a:srgbClr val="1A1A2E"/>
                </a:solidFill>
                <a:latin typeface="Calibri"/>
                <a:ea typeface="Calibri"/>
              </a:rPr>
              <a:t>  plans/sample_nutrition_plan_demo.md</a:t>
            </a:r>
          </a:p>
          <a:p xmlns:a="http://schemas.openxmlformats.org/drawingml/2006/main">
            <a:r>
              <a:rPr lang="en-US" sz="1500" b="0">
                <a:solidFill>
                  <a:srgbClr val="1A1A2E"/>
                </a:solidFill>
                <a:latin typeface="Calibri"/>
                <a:ea typeface="Calibri"/>
              </a:rPr>
              <a:t>  requirements.txt, run.bat</a:t>
            </a:r>
          </a:p>
          <a:p xmlns:a="http://schemas.openxmlformats.org/drawingml/2006/main">
            <a:r>
              <a:rPr lang="en-US" sz="1500" b="0">
                <a:solidFill>
                  <a:srgbClr val="1A1A2E"/>
                </a:solidFill>
                <a:latin typeface="Calibri"/>
                <a:ea typeface="Calibri"/>
              </a:rPr>
              <a:t>  static/app.js, static/index.html, static/style.css</a:t>
            </a:r>
          </a:p>
          <a:p xmlns:a="http://schemas.openxmlformats.org/drawingml/2006/main">
            <a:r>
              <a:rPr lang="en-US" sz="1500" b="0">
                <a:solidFill>
                  <a:srgbClr val="1A1A2E"/>
                </a:solidFill>
                <a:latin typeface="Calibri"/>
                <a:ea typeface="Calibri"/>
              </a:rPr>
              <a:t>  Total: 2,958 insertions</a:t>
            </a:r>
          </a:p>
        </p:txBody>
      </p:sp>
      <p:sp>
        <p:nvSpPr>
          <p:cNvPr id="100117" name="Commit2"/>
          <p:cNvSpPr txBox="1"/>
          <p:nvPr/>
        </p:nvSpPr>
        <p:spPr>
          <a:xfrm xmlns:a="http://schemas.openxmlformats.org/drawingml/2006/main">
            <a:off x="6120000" y="2340000"/>
            <a:ext cx="5400000" cy="270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500" b="0">
                <a:solidFill>
                  <a:srgbClr val="1A1A2E"/>
                </a:solidFill>
                <a:latin typeface="Calibri"/>
                <a:ea typeface="Calibri"/>
              </a:rPr>
              <a:t>COMMIT 2  —  fcdf169</a:t>
            </a:r>
          </a:p>
          <a:p xmlns:a="http://schemas.openxmlformats.org/drawingml/2006/main">
            <a:r>
              <a:rPr lang="en-US" sz="1500" b="0">
                <a:solidFill>
                  <a:srgbClr val="1A1A2E"/>
                </a:solidFill>
                <a:latin typeface="Calibri"/>
                <a:ea typeface="Calibri"/>
              </a:rPr>
              <a:t>fix: replace Unicode box-drawing chars in startup</a:t>
            </a:r>
          </a:p>
          <a:p xmlns:a="http://schemas.openxmlformats.org/drawingml/2006/main">
            <a:r>
              <a:rPr lang="en-US" sz="1500" b="0">
                <a:solidFill>
                  <a:srgbClr val="1A1A2E"/>
                </a:solidFill>
                <a:latin typeface="Calibri"/>
                <a:ea typeface="Calibri"/>
              </a:rPr>
              <a:t>banner (Windows cp1252 compat)</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Files changed (1): app.py</a:t>
            </a:r>
          </a:p>
          <a:p xmlns:a="http://schemas.openxmlformats.org/drawingml/2006/main">
            <a:r>
              <a:rPr lang="en-US" sz="1500" b="0">
                <a:solidFill>
                  <a:srgbClr val="1A1A2E"/>
                </a:solidFill>
                <a:latin typeface="Calibri"/>
                <a:ea typeface="Calibri"/>
              </a:rPr>
              <a:t>  7 insertions, 10 deletions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Reason: Windows terminal uses cp1252 encoding</a:t>
            </a:r>
          </a:p>
          <a:p xmlns:a="http://schemas.openxmlformats.org/drawingml/2006/main">
            <a:r>
              <a:rPr lang="en-US" sz="1500" b="0">
                <a:solidFill>
                  <a:srgbClr val="1A1A2E"/>
                </a:solidFill>
                <a:latin typeface="Calibri"/>
                <a:ea typeface="Calibri"/>
              </a:rPr>
              <a:t>which cannot render box-drawing Unicode chars.</a:t>
            </a:r>
          </a:p>
          <a:p xmlns:a="http://schemas.openxmlformats.org/drawingml/2006/main">
            <a:r>
              <a:rPr lang="en-US" sz="1500" b="0">
                <a:solidFill>
                  <a:srgbClr val="1A1A2E"/>
                </a:solidFill>
                <a:latin typeface="Calibri"/>
                <a:ea typeface="Calibri"/>
              </a:rPr>
              <a:t>Replaced banner with plain print() statements.</a:t>
            </a:r>
          </a:p>
          <a:p xmlns:a="http://schemas.openxmlformats.org/drawingml/2006/main">
            <a:r>
              <a:rPr lang="en-US" sz="1500" b="0">
                <a:solidFill>
                  <a:srgbClr val="1A1A2E"/>
                </a:solidFill>
                <a:latin typeface="Calibri"/>
                <a:ea typeface="Calibri"/>
              </a:rPr>
              <a:t/>
            </a:r>
          </a:p>
          <a:p xmlns:a="http://schemas.openxmlformats.org/drawingml/2006/main">
            <a:r>
              <a:rPr lang="en-US" sz="1500" b="0">
                <a:solidFill>
                  <a:srgbClr val="1A1A2E"/>
                </a:solidFill>
                <a:latin typeface="Calibri"/>
                <a:ea typeface="Calibri"/>
              </a:rPr>
              <a:t>Status: Both commits pushed to origin/main</a:t>
            </a:r>
          </a:p>
          <a:p xmlns:a="http://schemas.openxmlformats.org/drawingml/2006/main">
            <a:r>
              <a:rPr lang="en-US" sz="1500" b="0">
                <a:solidFill>
                  <a:srgbClr val="1A1A2E"/>
                </a:solidFill>
                <a:latin typeface="Calibri"/>
                <a:ea typeface="Calibri"/>
              </a:rPr>
              <a:t>branch 'main' up to date with 'origin/main'</a:t>
            </a:r>
          </a:p>
        </p:txBody>
      </p:sp>
      <p:sp>
        <p:nvSpPr>
          <p:cNvPr id="100118" name="GitFlow"/>
          <p:cNvSpPr txBox="1"/>
          <p:nvPr/>
        </p:nvSpPr>
        <p:spPr>
          <a:xfrm xmlns:a="http://schemas.openxmlformats.org/drawingml/2006/main">
            <a:off x="360000" y="5184000"/>
            <a:ext cx="11160000" cy="324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ourier New"/>
                <a:ea typeface="Courier New"/>
              </a:rPr>
              <a:t>git init  --&gt;  git branch -m main  --&gt;  git add .  --&gt;  git commit  --&gt;  git remote add origin  --&gt;  git push origin main</a:t>
            </a:r>
          </a:p>
        </p:txBody>
      </p:sp>
    </p:spTree>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p:sp>
        <p:nvSpPr>
          <p:cNvPr id="100119" name="TitleBar"/>
          <p:cNvSpPr txBox="1"/>
          <p:nvPr/>
        </p:nvSpPr>
        <p:spPr>
          <a:xfrm xmlns:a="http://schemas.openxmlformats.org/drawingml/2006/main">
            <a:off x="0" y="0"/>
            <a:ext cx="12193200" cy="1080000"/>
          </a:xfrm>
          <a:prstGeom xmlns:a="http://schemas.openxmlformats.org/drawingml/2006/main" prst="rect">
            <a:avLst/>
          </a:prstGeom>
          <a:solidFill xmlns:a="http://schemas.openxmlformats.org/drawingml/2006/main">
            <a:srgbClr val="0A1628"/>
          </a:solidFill>
        </p:spPr>
        <p:txBody>
          <a:bodyPr xmlns:a="http://schemas.openxmlformats.org/drawingml/2006/main"/>
          <a:lstStyle xmlns:a="http://schemas.openxmlformats.org/drawingml/2006/main"/>
          <a:p xmlns:a="http://schemas.openxmlformats.org/drawingml/2006/main">
            <a:endParaRPr lang="en-US">
              <a:solidFill>
                <a:srgbClr val="0A1628"/>
              </a:solidFill>
            </a:endParaRPr>
          </a:p>
        </p:txBody>
      </p:sp>
      <p:sp>
        <p:nvSpPr>
          <p:cNvPr id="100120" name="Title"/>
          <p:cNvSpPr txBox="1"/>
          <p:nvPr/>
        </p:nvSpPr>
        <p:spPr>
          <a:xfrm xmlns:a="http://schemas.openxmlformats.org/drawingml/2006/main">
            <a:off x="540000" y="144000"/>
            <a:ext cx="9000000" cy="72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3600" b="1">
                <a:solidFill>
                  <a:srgbClr val="FFFFFF"/>
                </a:solidFill>
                <a:latin typeface="Calibri"/>
                <a:ea typeface="Calibri"/>
              </a:rPr>
              <a:t>Installation &amp; Running the Project</a:t>
            </a:r>
          </a:p>
        </p:txBody>
      </p:sp>
      <p:sp>
        <p:nvSpPr>
          <p:cNvPr id="100121" name="SlideNum"/>
          <p:cNvSpPr txBox="1"/>
          <p:nvPr/>
        </p:nvSpPr>
        <p:spPr>
          <a:xfrm xmlns:a="http://schemas.openxmlformats.org/drawingml/2006/main">
            <a:off x="10440000" y="180000"/>
            <a:ext cx="1080000" cy="5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2800" b="1">
                <a:solidFill>
                  <a:srgbClr val="2ECC71"/>
                </a:solidFill>
                <a:latin typeface="Calibri"/>
                <a:ea typeface="Calibri"/>
              </a:rPr>
              <a:t>15</a:t>
            </a:r>
          </a:p>
        </p:txBody>
      </p:sp>
      <p:sp>
        <p:nvSpPr>
          <p:cNvPr id="100122" name="WindowsBox"/>
          <p:cNvSpPr txBox="1"/>
          <p:nvPr/>
        </p:nvSpPr>
        <p:spPr>
          <a:xfrm xmlns:a="http://schemas.openxmlformats.org/drawingml/2006/main">
            <a:off x="360000" y="1188000"/>
            <a:ext cx="3600000" cy="3060000"/>
          </a:xfrm>
          <a:prstGeom xmlns:a="http://schemas.openxmlformats.org/drawingml/2006/main" prst="rect">
            <a:avLst/>
          </a:prstGeom>
          <a:solidFill xmlns:a="http://schemas.openxmlformats.org/drawingml/2006/main">
            <a:srgbClr val="1565C0"/>
          </a:solidFill>
        </p:spPr>
        <p:txBody>
          <a:bodyPr xmlns:a="http://schemas.openxmlformats.org/drawingml/2006/main"/>
          <a:lstStyle xmlns:a="http://schemas.openxmlformats.org/drawingml/2006/main"/>
          <a:p xmlns:a="http://schemas.openxmlformats.org/drawingml/2006/main">
            <a:r>
              <a:rPr lang="en-US" sz="1400" b="0">
                <a:solidFill>
                  <a:srgbClr val="FFFFFF"/>
                </a:solidFill>
                <a:latin typeface="Courier New"/>
                <a:ea typeface="Courier New"/>
              </a:rPr>
              <a:t>WINDOWS (One-Click)</a:t>
            </a:r>
          </a:p>
          <a:p xmlns:a="http://schemas.openxmlformats.org/drawingml/2006/main">
            <a:r>
              <a:rPr lang="en-US" sz="1400" b="0">
                <a:solidFill>
                  <a:srgbClr val="FFFFFF"/>
                </a:solidFill>
                <a:latin typeface="Courier New"/>
                <a:ea typeface="Courier New"/>
              </a:rPr>
              <a:t/>
            </a:r>
          </a:p>
          <a:p xmlns:a="http://schemas.openxmlformats.org/drawingml/2006/main">
            <a:r>
              <a:rPr lang="en-US" sz="1400" b="0">
                <a:solidFill>
                  <a:srgbClr val="FFFFFF"/>
                </a:solidFill>
                <a:latin typeface="Courier New"/>
                <a:ea typeface="Courier New"/>
              </a:rPr>
              <a:t>Double-click  run.bat</a:t>
            </a:r>
          </a:p>
          <a:p xmlns:a="http://schemas.openxmlformats.org/drawingml/2006/main">
            <a:r>
              <a:rPr lang="en-US" sz="1400" b="0">
                <a:solidFill>
                  <a:srgbClr val="FFFFFF"/>
                </a:solidFill>
                <a:latin typeface="Courier New"/>
                <a:ea typeface="Courier New"/>
              </a:rPr>
              <a:t/>
            </a:r>
          </a:p>
          <a:p xmlns:a="http://schemas.openxmlformats.org/drawingml/2006/main">
            <a:r>
              <a:rPr lang="en-US" sz="1400" b="0">
                <a:solidFill>
                  <a:srgbClr val="FFFFFF"/>
                </a:solidFill>
                <a:latin typeface="Courier New"/>
                <a:ea typeface="Courier New"/>
              </a:rPr>
              <a:t>Automatic steps:</a:t>
            </a:r>
          </a:p>
          <a:p xmlns:a="http://schemas.openxmlformats.org/drawingml/2006/main">
            <a:r>
              <a:rPr lang="en-US" sz="1400" b="0">
                <a:solidFill>
                  <a:srgbClr val="FFFFFF"/>
                </a:solidFill>
                <a:latin typeface="Courier New"/>
                <a:ea typeface="Courier New"/>
              </a:rPr>
              <a:t>  [1] Check Python installation</a:t>
            </a:r>
          </a:p>
          <a:p xmlns:a="http://schemas.openxmlformats.org/drawingml/2006/main">
            <a:r>
              <a:rPr lang="en-US" sz="1400" b="0">
                <a:solidFill>
                  <a:srgbClr val="FFFFFF"/>
                </a:solidFill>
                <a:latin typeface="Courier New"/>
                <a:ea typeface="Courier New"/>
              </a:rPr>
              <a:t>  [2] Create virtual environment</a:t>
            </a:r>
          </a:p>
          <a:p xmlns:a="http://schemas.openxmlformats.org/drawingml/2006/main">
            <a:r>
              <a:rPr lang="en-US" sz="1400" b="0">
                <a:solidFill>
                  <a:srgbClr val="FFFFFF"/>
                </a:solidFill>
                <a:latin typeface="Courier New"/>
                <a:ea typeface="Courier New"/>
              </a:rPr>
              <a:t>  [3] Install all dependencies</a:t>
            </a:r>
          </a:p>
          <a:p xmlns:a="http://schemas.openxmlformats.org/drawingml/2006/main">
            <a:r>
              <a:rPr lang="en-US" sz="1400" b="0">
                <a:solidFill>
                  <a:srgbClr val="FFFFFF"/>
                </a:solidFill>
                <a:latin typeface="Courier New"/>
                <a:ea typeface="Courier New"/>
              </a:rPr>
              <a:t>  [4] Copy .env.example -&gt; .env</a:t>
            </a:r>
          </a:p>
          <a:p xmlns:a="http://schemas.openxmlformats.org/drawingml/2006/main">
            <a:r>
              <a:rPr lang="en-US" sz="1400" b="0">
                <a:solidFill>
                  <a:srgbClr val="FFFFFF"/>
                </a:solidFill>
                <a:latin typeface="Courier New"/>
                <a:ea typeface="Courier New"/>
              </a:rPr>
              <a:t>  [5] Start Flask server</a:t>
            </a:r>
          </a:p>
          <a:p xmlns:a="http://schemas.openxmlformats.org/drawingml/2006/main">
            <a:r>
              <a:rPr lang="en-US" sz="1400" b="0">
                <a:solidFill>
                  <a:srgbClr val="FFFFFF"/>
                </a:solidFill>
                <a:latin typeface="Courier New"/>
                <a:ea typeface="Courier New"/>
              </a:rPr>
              <a:t>  [6] Open http://localhost:5000</a:t>
            </a:r>
          </a:p>
        </p:txBody>
      </p:sp>
      <p:sp>
        <p:nvSpPr>
          <p:cNvPr id="100123" name="ManualBox"/>
          <p:cNvSpPr txBox="1"/>
          <p:nvPr/>
        </p:nvSpPr>
        <p:spPr>
          <a:xfrm xmlns:a="http://schemas.openxmlformats.org/drawingml/2006/main">
            <a:off x="4320000" y="1188000"/>
            <a:ext cx="4680000" cy="3060000"/>
          </a:xfrm>
          <a:prstGeom xmlns:a="http://schemas.openxmlformats.org/drawingml/2006/main" prst="rect">
            <a:avLst/>
          </a:prstGeom>
          <a:solidFill xmlns:a="http://schemas.openxmlformats.org/drawingml/2006/main">
            <a:srgbClr val="F0F4FF"/>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MANUAL SETUP (Any Platform)</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git clone https://github.com/diyabhikadiya7/</a:t>
            </a:r>
          </a:p>
          <a:p xmlns:a="http://schemas.openxmlformats.org/drawingml/2006/main">
            <a:r>
              <a:rPr lang="en-US" sz="1300" b="0">
                <a:solidFill>
                  <a:srgbClr val="1A1A2E"/>
                </a:solidFill>
                <a:latin typeface="Courier New"/>
                <a:ea typeface="Courier New"/>
              </a:rPr>
              <a:t>  -Nutrition-Agentic-AI-Application.git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cd .../nutrition_ai</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python -m venv venv</a:t>
            </a:r>
          </a:p>
          <a:p xmlns:a="http://schemas.openxmlformats.org/drawingml/2006/main">
            <a:r>
              <a:rPr lang="en-US" sz="1300" b="0">
                <a:solidFill>
                  <a:srgbClr val="1A1A2E"/>
                </a:solidFill>
                <a:latin typeface="Courier New"/>
                <a:ea typeface="Courier New"/>
              </a:rPr>
              <a:t>venv\Scripts\activate      # Windows</a:t>
            </a:r>
          </a:p>
          <a:p xmlns:a="http://schemas.openxmlformats.org/drawingml/2006/main">
            <a:r>
              <a:rPr lang="en-US" sz="1300" b="0">
                <a:solidFill>
                  <a:srgbClr val="1A1A2E"/>
                </a:solidFill>
                <a:latin typeface="Courier New"/>
                <a:ea typeface="Courier New"/>
              </a:rPr>
              <a:t>source venv/bin/activate   # Linux/Mac</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pip install -r requirements.txt</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copy .env.example .env</a:t>
            </a:r>
          </a:p>
          <a:p xmlns:a="http://schemas.openxmlformats.org/drawingml/2006/main">
            <a:r>
              <a:rPr lang="en-US" sz="1300" b="0">
                <a:solidFill>
                  <a:srgbClr val="1A1A2E"/>
                </a:solidFill>
                <a:latin typeface="Courier New"/>
                <a:ea typeface="Courier New"/>
              </a:rPr>
              <a:t># Edit .env with your IBM API key</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python app.py</a:t>
            </a:r>
          </a:p>
          <a:p xmlns:a="http://schemas.openxmlformats.org/drawingml/2006/main">
            <a:r>
              <a:rPr lang="en-US" sz="1300" b="0">
                <a:solidFill>
                  <a:srgbClr val="1A1A2E"/>
                </a:solidFill>
                <a:latin typeface="Courier New"/>
                <a:ea typeface="Courier New"/>
              </a:rPr>
              <a:t># Open http://localhost:5000</a:t>
            </a:r>
          </a:p>
        </p:txBody>
      </p:sp>
      <p:sp>
        <p:nvSpPr>
          <p:cNvPr id="100124" name="LiveBox"/>
          <p:cNvSpPr txBox="1"/>
          <p:nvPr/>
        </p:nvSpPr>
        <p:spPr>
          <a:xfrm xmlns:a="http://schemas.openxmlformats.org/drawingml/2006/main">
            <a:off x="9360000" y="1188000"/>
            <a:ext cx="2340000" cy="3060000"/>
          </a:xfrm>
          <a:prstGeom xmlns:a="http://schemas.openxmlformats.org/drawingml/2006/main" prst="rect">
            <a:avLst/>
          </a:prstGeom>
          <a:solidFill xmlns:a="http://schemas.openxmlformats.org/drawingml/2006/main">
            <a:srgbClr val="00695C"/>
          </a:solidFill>
        </p:spPr>
        <p:txBody>
          <a:bodyPr xmlns:a="http://schemas.openxmlformats.org/drawingml/2006/main"/>
          <a:lstStyle xmlns:a="http://schemas.openxmlformats.org/drawingml/2006/main"/>
          <a:p xmlns:a="http://schemas.openxmlformats.org/drawingml/2006/main">
            <a:r>
              <a:rPr lang="en-US" sz="1300" b="0">
                <a:solidFill>
                  <a:srgbClr val="FFFFFF"/>
                </a:solidFill>
                <a:latin typeface="Calibri"/>
                <a:ea typeface="Calibri"/>
              </a:rPr>
              <a:t>VERIFIED LIVE OUTPUT</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Python: 3.14.7</a:t>
            </a:r>
          </a:p>
          <a:p xmlns:a="http://schemas.openxmlformats.org/drawingml/2006/main">
            <a:r>
              <a:rPr lang="en-US" sz="1300" b="0">
                <a:solidFill>
                  <a:srgbClr val="FFFFFF"/>
                </a:solidFill>
                <a:latin typeface="Calibri"/>
                <a:ea typeface="Calibri"/>
              </a:rPr>
              <a:t>Flask: 3.0.3  |  Flask-CORS: 4.0.1</a:t>
            </a:r>
          </a:p>
          <a:p xmlns:a="http://schemas.openxmlformats.org/drawingml/2006/main">
            <a:r>
              <a:rPr lang="en-US" sz="1300" b="0">
                <a:solidFill>
                  <a:srgbClr val="FFFFFF"/>
                </a:solidFill>
                <a:latin typeface="Calibri"/>
                <a:ea typeface="Calibri"/>
              </a:rPr>
              <a:t>Requests: 2.32.3  |  Markdown: 3.6  |  python-dotenv: 1.0.1</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Server: Running on http://0.0.0.0:5000</a:t>
            </a:r>
          </a:p>
          <a:p xmlns:a="http://schemas.openxmlformats.org/drawingml/2006/main">
            <a:r>
              <a:rPr lang="en-US" sz="1300" b="0">
                <a:solidFill>
                  <a:srgbClr val="FFFFFF"/>
                </a:solidFill>
                <a:latin typeface="Calibri"/>
                <a:ea typeface="Calibri"/>
              </a:rPr>
              <a:t>Mode: PRODUCTION  (demo mode, no API key needed)</a:t>
            </a:r>
          </a:p>
          <a:p xmlns:a="http://schemas.openxmlformats.org/drawingml/2006/main">
            <a:r>
              <a:rPr lang="en-US" sz="1300" b="0">
                <a:solidFill>
                  <a:srgbClr val="FFFFFF"/>
                </a:solidFill>
                <a:latin typeface="Calibri"/>
                <a:ea typeface="Calibri"/>
              </a:rPr>
              <a:t/>
            </a:r>
          </a:p>
          <a:p xmlns:a="http://schemas.openxmlformats.org/drawingml/2006/main">
            <a:r>
              <a:rPr lang="en-US" sz="1300" b="0">
                <a:solidFill>
                  <a:srgbClr val="FFFFFF"/>
                </a:solidFill>
                <a:latin typeface="Calibri"/>
                <a:ea typeface="Calibri"/>
              </a:rPr>
              <a:t>All 5 endpoints tested and confirmed:  200 OK</a:t>
            </a:r>
          </a:p>
          <a:p xmlns:a="http://schemas.openxmlformats.org/drawingml/2006/main">
            <a:r>
              <a:rPr lang="en-US" sz="1300" b="0">
                <a:solidFill>
                  <a:srgbClr val="FFFFFF"/>
                </a:solidFill>
                <a:latin typeface="Calibri"/>
                <a:ea typeface="Calibri"/>
              </a:rPr>
              <a:t>Plan generated, BMI 22.0, TDEE 2062 kcal, Q&amp;A working</a:t>
            </a:r>
          </a:p>
        </p:txBody>
      </p:sp>
      <p:sp>
        <p:nvSpPr>
          <p:cNvPr id="100125" name="EnvBox"/>
          <p:cNvSpPr txBox="1"/>
          <p:nvPr/>
        </p:nvSpPr>
        <p:spPr>
          <a:xfrm xmlns:a="http://schemas.openxmlformats.org/drawingml/2006/main">
            <a:off x="360000" y="4392000"/>
            <a:ext cx="11160000" cy="1080000"/>
          </a:xfrm>
          <a:prstGeom xmlns:a="http://schemas.openxmlformats.org/drawingml/2006/main" prst="rect">
            <a:avLst/>
          </a:prstGeom>
          <a:solidFill xmlns:a="http://schemas.openxmlformats.org/drawingml/2006/main">
            <a:srgbClr val="E8F5E9"/>
          </a:solidFill>
        </p:spPr>
        <p:txBody>
          <a:bodyPr xmlns:a="http://schemas.openxmlformats.org/drawingml/2006/main"/>
          <a:lstStyle xmlns:a="http://schemas.openxmlformats.org/drawingml/2006/main"/>
          <a:p xmlns:a="http://schemas.openxmlformats.org/drawingml/2006/main">
            <a:r>
              <a:rPr lang="en-US" sz="1300" b="0">
                <a:solidFill>
                  <a:srgbClr val="1A1A2E"/>
                </a:solidFill>
                <a:latin typeface="Courier New"/>
                <a:ea typeface="Courier New"/>
              </a:rPr>
              <a:t>ENVIRONMENT VARIABLES  (.env)</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WATSONX_API_KEY=your_ibm_api_key         # Get from cloud.ibm.com</a:t>
            </a:r>
          </a:p>
          <a:p xmlns:a="http://schemas.openxmlformats.org/drawingml/2006/main">
            <a:r>
              <a:rPr lang="en-US" sz="1300" b="0">
                <a:solidFill>
                  <a:srgbClr val="1A1A2E"/>
                </a:solidFill>
                <a:latin typeface="Courier New"/>
                <a:ea typeface="Courier New"/>
              </a:rPr>
              <a:t>WATSONX_PROJECT_ID=your_project_id       # From watsonx.ai dashboard</a:t>
            </a:r>
          </a:p>
          <a:p xmlns:a="http://schemas.openxmlformats.org/drawingml/2006/main">
            <a:r>
              <a:rPr lang="en-US" sz="1300" b="0">
                <a:solidFill>
                  <a:srgbClr val="1A1A2E"/>
                </a:solidFill>
                <a:latin typeface="Courier New"/>
                <a:ea typeface="Courier New"/>
              </a:rPr>
              <a:t>WATSONX_URL=https://us-south.ml.cloud.ibm.com</a:t>
            </a:r>
          </a:p>
          <a:p xmlns:a="http://schemas.openxmlformats.org/drawingml/2006/main">
            <a:r>
              <a:rPr lang="en-US" sz="1300" b="0">
                <a:solidFill>
                  <a:srgbClr val="1A1A2E"/>
                </a:solidFill>
                <a:latin typeface="Courier New"/>
                <a:ea typeface="Courier New"/>
              </a:rPr>
              <a:t>FLASK_SECRET_KEY=change-in-production</a:t>
            </a:r>
          </a:p>
          <a:p xmlns:a="http://schemas.openxmlformats.org/drawingml/2006/main">
            <a:r>
              <a:rPr lang="en-US" sz="1300" b="0">
                <a:solidFill>
                  <a:srgbClr val="1A1A2E"/>
                </a:solidFill>
                <a:latin typeface="Courier New"/>
                <a:ea typeface="Courier New"/>
              </a:rPr>
              <a:t>FLASK_DEBUG=False</a:t>
            </a:r>
          </a:p>
          <a:p xmlns:a="http://schemas.openxmlformats.org/drawingml/2006/main">
            <a:r>
              <a:rPr lang="en-US" sz="1300" b="0">
                <a:solidFill>
                  <a:srgbClr val="1A1A2E"/>
                </a:solidFill>
                <a:latin typeface="Courier New"/>
                <a:ea typeface="Courier New"/>
              </a:rPr>
              <a:t>PORT=5000</a:t>
            </a:r>
          </a:p>
          <a:p xmlns:a="http://schemas.openxmlformats.org/drawingml/2006/main">
            <a:r>
              <a:rPr lang="en-US" sz="1300" b="0">
                <a:solidFill>
                  <a:srgbClr val="1A1A2E"/>
                </a:solidFill>
                <a:latin typeface="Courier New"/>
                <a:ea typeface="Courier New"/>
              </a:rPr>
              <a:t/>
            </a:r>
          </a:p>
          <a:p xmlns:a="http://schemas.openxmlformats.org/drawingml/2006/main">
            <a:r>
              <a:rPr lang="en-US" sz="1300" b="0">
                <a:solidFill>
                  <a:srgbClr val="1A1A2E"/>
                </a:solidFill>
                <a:latin typeface="Courier New"/>
                <a:ea typeface="Courier New"/>
              </a:rPr>
              <a:t>Without API key: app runs in Demo Mode with realistic mock responses</a:t>
            </a:r>
          </a:p>
        </p:txBody>
      </p:sp>
    </p:spTree>
  </p:cSld>
</p:sld>
</file>

<file path=ppt/slides/slide18.xml><?xml version="1.0" encoding="utf-8"?>
<p:sld xmlns:p="http://schemas.openxmlformats.org/presentationml/2006/main">
  <p:cSld>
    <p:bg>
      <p:bgPr>
        <a:solidFill xmlns:a="http://schemas.openxmlformats.org/drawingml/2006/main">
          <a:srgbClr val="0A1628"/>
        </a:solidFill>
      </p:bgPr>
    </p:bg>
    <p:spTree>
      <p:nvGrpSpPr>
        <p:cNvPr id="1" name=""/>
        <p:cNvGrpSpPr/>
        <p:nvPr/>
      </p:nvGrpSpPr>
      <p:grpSpPr/>
      <p:sp>
        <p:nvSpPr>
          <p:cNvPr id="100126" name="AccentBar"/>
          <p:cNvSpPr txBox="1"/>
          <p:nvPr/>
        </p:nvSpPr>
        <p:spPr>
          <a:xfrm xmlns:a="http://schemas.openxmlformats.org/drawingml/2006/main">
            <a:off x="0" y="0"/>
            <a:ext cx="12193200" cy="180000"/>
          </a:xfrm>
          <a:prstGeom xmlns:a="http://schemas.openxmlformats.org/drawingml/2006/main" prst="rect">
            <a:avLst/>
          </a:prstGeom>
          <a:solidFill xmlns:a="http://schemas.openxmlformats.org/drawingml/2006/main">
            <a:srgbClr val="2ECC71"/>
          </a:solidFill>
        </p:spPr>
        <p:txBody>
          <a:bodyPr xmlns:a="http://schemas.openxmlformats.org/drawingml/2006/main"/>
          <a:lstStyle xmlns:a="http://schemas.openxmlformats.org/drawingml/2006/main"/>
          <a:p xmlns:a="http://schemas.openxmlformats.org/drawingml/2006/main">
            <a:endParaRPr lang="en-US">
              <a:solidFill>
                <a:srgbClr val="2ECC71"/>
              </a:solidFill>
            </a:endParaRPr>
          </a:p>
        </p:txBody>
      </p:sp>
      <p:sp>
        <p:nvSpPr>
          <p:cNvPr id="100127" name="Title"/>
          <p:cNvSpPr txBox="1"/>
          <p:nvPr/>
        </p:nvSpPr>
        <p:spPr>
          <a:xfrm xmlns:a="http://schemas.openxmlformats.org/drawingml/2006/main">
            <a:off x="720000" y="540000"/>
            <a:ext cx="10440000" cy="90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4800" b="1">
                <a:solidFill>
                  <a:srgbClr val="FFFFFF"/>
                </a:solidFill>
                <a:latin typeface="Calibri"/>
                <a:ea typeface="Calibri"/>
              </a:rPr>
              <a:t>Conclusion &amp; Next Steps</a:t>
            </a:r>
          </a:p>
        </p:txBody>
      </p:sp>
      <p:sp>
        <p:nvSpPr>
          <p:cNvPr id="100128" name="AchievedLabel"/>
          <p:cNvSpPr txBox="1"/>
          <p:nvPr/>
        </p:nvSpPr>
        <p:spPr>
          <a:xfrm xmlns:a="http://schemas.openxmlformats.org/drawingml/2006/main">
            <a:off x="720000" y="1620000"/>
            <a:ext cx="504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2ECC71"/>
                </a:solidFill>
                <a:latin typeface="Calibri"/>
                <a:ea typeface="Calibri"/>
              </a:rPr>
              <a:t>WHAT WE ACHIEVED</a:t>
            </a:r>
          </a:p>
        </p:txBody>
      </p:sp>
      <p:sp>
        <p:nvSpPr>
          <p:cNvPr id="100129" name="Achieved"/>
          <p:cNvSpPr txBox="1"/>
          <p:nvPr/>
        </p:nvSpPr>
        <p:spPr>
          <a:xfrm xmlns:a="http://schemas.openxmlformats.org/drawingml/2006/main">
            <a:off x="720000" y="1980000"/>
            <a:ext cx="5040000" cy="32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A8C8FF"/>
                </a:solidFill>
                <a:latin typeface="Calibri"/>
                <a:ea typeface="Calibri"/>
              </a:rPr>
              <a:t>Full-stack Agentic AI application built &amp; deployed</a:t>
            </a:r>
          </a:p>
          <a:p xmlns:a="http://schemas.openxmlformats.org/drawingml/2006/main">
            <a:r>
              <a:rPr lang="en-US" sz="1600" b="0">
                <a:solidFill>
                  <a:srgbClr val="A8C8FF"/>
                </a:solidFill>
                <a:latin typeface="Calibri"/>
                <a:ea typeface="Calibri"/>
              </a:rPr>
              <a:t>7-Phase SDLC implemented across 5 Python modules</a:t>
            </a:r>
          </a:p>
          <a:p xmlns:a="http://schemas.openxmlformats.org/drawingml/2006/main">
            <a:r>
              <a:rPr lang="en-US" sz="1600" b="0">
                <a:solidFill>
                  <a:srgbClr val="A8C8FF"/>
                </a:solidFill>
                <a:latin typeface="Calibri"/>
                <a:ea typeface="Calibri"/>
              </a:rPr>
              <a:t>IBM Granite LLM integrated via watsonx.ai REST API</a:t>
            </a:r>
          </a:p>
          <a:p xmlns:a="http://schemas.openxmlformats.org/drawingml/2006/main">
            <a:r>
              <a:rPr lang="en-US" sz="1600" b="0">
                <a:solidFill>
                  <a:srgbClr val="A8C8FF"/>
                </a:solidFill>
                <a:latin typeface="Calibri"/>
                <a:ea typeface="Calibri"/>
              </a:rPr>
              <a:t>7 REST API endpoints — all verified working</a:t>
            </a:r>
          </a:p>
          <a:p xmlns:a="http://schemas.openxmlformats.org/drawingml/2006/main">
            <a:r>
              <a:rPr lang="en-US" sz="1600" b="0">
                <a:solidFill>
                  <a:srgbClr val="A8C8FF"/>
                </a:solidFill>
                <a:latin typeface="Calibri"/>
                <a:ea typeface="Calibri"/>
              </a:rPr>
              <a:t>Input + output guardrails with HAM tone enforcement</a:t>
            </a:r>
          </a:p>
          <a:p xmlns:a="http://schemas.openxmlformats.org/drawingml/2006/main">
            <a:r>
              <a:rPr lang="en-US" sz="1600" b="0">
                <a:solidFill>
                  <a:srgbClr val="A8C8FF"/>
                </a:solidFill>
                <a:latin typeface="Calibri"/>
                <a:ea typeface="Calibri"/>
              </a:rPr>
              <a:t>Personalised 7-day meal plans with medical awareness</a:t>
            </a:r>
          </a:p>
          <a:p xmlns:a="http://schemas.openxmlformats.org/drawingml/2006/main">
            <a:r>
              <a:rPr lang="en-US" sz="1600" b="0">
                <a:solidFill>
                  <a:srgbClr val="A8C8FF"/>
                </a:solidFill>
                <a:latin typeface="Calibri"/>
                <a:ea typeface="Calibri"/>
              </a:rPr>
              <a:t>BMI, TDEE, RDA calculators — zero LLM dependency</a:t>
            </a:r>
          </a:p>
          <a:p xmlns:a="http://schemas.openxmlformats.org/drawingml/2006/main">
            <a:r>
              <a:rPr lang="en-US" sz="1600" b="0">
                <a:solidFill>
                  <a:srgbClr val="A8C8FF"/>
                </a:solidFill>
                <a:latin typeface="Calibri"/>
                <a:ea typeface="Calibri"/>
              </a:rPr>
              <a:t>Vanilla JS single-page UI with 3 panels</a:t>
            </a:r>
          </a:p>
          <a:p xmlns:a="http://schemas.openxmlformats.org/drawingml/2006/main">
            <a:r>
              <a:rPr lang="en-US" sz="1600" b="0">
                <a:solidFill>
                  <a:srgbClr val="A8C8FF"/>
                </a:solidFill>
                <a:latin typeface="Calibri"/>
                <a:ea typeface="Calibri"/>
              </a:rPr>
              <a:t>GitHub deployment — 15 files, 2 commits, main branch</a:t>
            </a:r>
          </a:p>
          <a:p xmlns:a="http://schemas.openxmlformats.org/drawingml/2006/main">
            <a:r>
              <a:rPr lang="en-US" sz="1600" b="0">
                <a:solidFill>
                  <a:srgbClr val="A8C8FF"/>
                </a:solidFill>
                <a:latin typeface="Calibri"/>
                <a:ea typeface="Calibri"/>
              </a:rPr>
              <a:t>Demo mode — works without IBM API key</a:t>
            </a:r>
          </a:p>
        </p:txBody>
      </p:sp>
      <p:sp>
        <p:nvSpPr>
          <p:cNvPr id="100130" name="NextLabel"/>
          <p:cNvSpPr txBox="1"/>
          <p:nvPr/>
        </p:nvSpPr>
        <p:spPr>
          <a:xfrm xmlns:a="http://schemas.openxmlformats.org/drawingml/2006/main">
            <a:off x="6480000" y="1620000"/>
            <a:ext cx="4680000" cy="288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800" b="1">
                <a:solidFill>
                  <a:srgbClr val="2ECC71"/>
                </a:solidFill>
                <a:latin typeface="Calibri"/>
                <a:ea typeface="Calibri"/>
              </a:rPr>
              <a:t>NEXT STEPS</a:t>
            </a:r>
          </a:p>
        </p:txBody>
      </p:sp>
      <p:sp>
        <p:nvSpPr>
          <p:cNvPr id="100131" name="Next"/>
          <p:cNvSpPr txBox="1"/>
          <p:nvPr/>
        </p:nvSpPr>
        <p:spPr>
          <a:xfrm xmlns:a="http://schemas.openxmlformats.org/drawingml/2006/main">
            <a:off x="6480000" y="1980000"/>
            <a:ext cx="4680000" cy="324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A8C8FF"/>
                </a:solidFill>
                <a:latin typeface="Calibri"/>
                <a:ea typeface="Calibri"/>
              </a:rPr>
              <a:t>Connect live IBM watsonx.ai API key</a:t>
            </a:r>
          </a:p>
          <a:p xmlns:a="http://schemas.openxmlformats.org/drawingml/2006/main">
            <a:r>
              <a:rPr lang="en-US" sz="1600" b="0">
                <a:solidFill>
                  <a:srgbClr val="A8C8FF"/>
                </a:solidFill>
                <a:latin typeface="Calibri"/>
                <a:ea typeface="Calibri"/>
              </a:rPr>
              <a:t>for real Granite LLM inference</a:t>
            </a:r>
          </a:p>
          <a:p xmlns:a="http://schemas.openxmlformats.org/drawingml/2006/main">
            <a:r>
              <a:rPr lang="en-US" sz="1600" b="0">
                <a:solidFill>
                  <a:srgbClr val="A8C8FF"/>
                </a:solidFill>
                <a:latin typeface="Calibri"/>
                <a:ea typeface="Calibri"/>
              </a:rPr>
              <a:t/>
            </a:r>
          </a:p>
          <a:p xmlns:a="http://schemas.openxmlformats.org/drawingml/2006/main">
            <a:r>
              <a:rPr lang="en-US" sz="1600" b="0">
                <a:solidFill>
                  <a:srgbClr val="A8C8FF"/>
                </a:solidFill>
                <a:latin typeface="Calibri"/>
                <a:ea typeface="Calibri"/>
              </a:rPr>
              <a:t>Deploy to cloud (IBM Code Engine,</a:t>
            </a:r>
          </a:p>
          <a:p xmlns:a="http://schemas.openxmlformats.org/drawingml/2006/main">
            <a:r>
              <a:rPr lang="en-US" sz="1600" b="0">
                <a:solidFill>
                  <a:srgbClr val="A8C8FF"/>
                </a:solidFill>
                <a:latin typeface="Calibri"/>
                <a:ea typeface="Calibri"/>
              </a:rPr>
              <a:t>Render, or Heroku) for public access</a:t>
            </a:r>
          </a:p>
          <a:p xmlns:a="http://schemas.openxmlformats.org/drawingml/2006/main">
            <a:r>
              <a:rPr lang="en-US" sz="1600" b="0">
                <a:solidFill>
                  <a:srgbClr val="A8C8FF"/>
                </a:solidFill>
                <a:latin typeface="Calibri"/>
                <a:ea typeface="Calibri"/>
              </a:rPr>
              <a:t/>
            </a:r>
          </a:p>
          <a:p xmlns:a="http://schemas.openxmlformats.org/drawingml/2006/main">
            <a:r>
              <a:rPr lang="en-US" sz="1600" b="0">
                <a:solidFill>
                  <a:srgbClr val="A8C8FF"/>
                </a:solidFill>
                <a:latin typeface="Calibri"/>
                <a:ea typeface="Calibri"/>
              </a:rPr>
              <a:t>Add user authentication &amp; per-user</a:t>
            </a:r>
          </a:p>
          <a:p xmlns:a="http://schemas.openxmlformats.org/drawingml/2006/main">
            <a:r>
              <a:rPr lang="en-US" sz="1600" b="0">
                <a:solidFill>
                  <a:srgbClr val="A8C8FF"/>
                </a:solidFill>
                <a:latin typeface="Calibri"/>
                <a:ea typeface="Calibri"/>
              </a:rPr>
              <a:t>plan history with database</a:t>
            </a:r>
          </a:p>
          <a:p xmlns:a="http://schemas.openxmlformats.org/drawingml/2006/main">
            <a:r>
              <a:rPr lang="en-US" sz="1600" b="0">
                <a:solidFill>
                  <a:srgbClr val="A8C8FF"/>
                </a:solidFill>
                <a:latin typeface="Calibri"/>
                <a:ea typeface="Calibri"/>
              </a:rPr>
              <a:t/>
            </a:r>
          </a:p>
          <a:p xmlns:a="http://schemas.openxmlformats.org/drawingml/2006/main">
            <a:r>
              <a:rPr lang="en-US" sz="1600" b="0">
                <a:solidFill>
                  <a:srgbClr val="A8C8FF"/>
                </a:solidFill>
                <a:latin typeface="Calibri"/>
                <a:ea typeface="Calibri"/>
              </a:rPr>
              <a:t>Integrate meal image recognition</a:t>
            </a:r>
          </a:p>
          <a:p xmlns:a="http://schemas.openxmlformats.org/drawingml/2006/main">
            <a:r>
              <a:rPr lang="en-US" sz="1600" b="0">
                <a:solidFill>
                  <a:srgbClr val="A8C8FF"/>
                </a:solidFill>
                <a:latin typeface="Calibri"/>
                <a:ea typeface="Calibri"/>
              </a:rPr>
              <a:t>using IBM Visual Recognition</a:t>
            </a:r>
          </a:p>
          <a:p xmlns:a="http://schemas.openxmlformats.org/drawingml/2006/main">
            <a:r>
              <a:rPr lang="en-US" sz="1600" b="0">
                <a:solidFill>
                  <a:srgbClr val="A8C8FF"/>
                </a:solidFill>
                <a:latin typeface="Calibri"/>
                <a:ea typeface="Calibri"/>
              </a:rPr>
              <a:t/>
            </a:r>
          </a:p>
          <a:p xmlns:a="http://schemas.openxmlformats.org/drawingml/2006/main">
            <a:r>
              <a:rPr lang="en-US" sz="1600" b="0">
                <a:solidFill>
                  <a:srgbClr val="A8C8FF"/>
                </a:solidFill>
                <a:latin typeface="Calibri"/>
                <a:ea typeface="Calibri"/>
              </a:rPr>
              <a:t>Add nutritional progress tracking</a:t>
            </a:r>
          </a:p>
          <a:p xmlns:a="http://schemas.openxmlformats.org/drawingml/2006/main">
            <a:r>
              <a:rPr lang="en-US" sz="1600" b="0">
                <a:solidFill>
                  <a:srgbClr val="A8C8FF"/>
                </a:solidFill>
                <a:latin typeface="Calibri"/>
                <a:ea typeface="Calibri"/>
              </a:rPr>
              <a:t>with charts and trends</a:t>
            </a:r>
          </a:p>
          <a:p xmlns:a="http://schemas.openxmlformats.org/drawingml/2006/main">
            <a:r>
              <a:rPr lang="en-US" sz="1600" b="0">
                <a:solidFill>
                  <a:srgbClr val="A8C8FF"/>
                </a:solidFill>
                <a:latin typeface="Calibri"/>
                <a:ea typeface="Calibri"/>
              </a:rPr>
              <a:t/>
            </a:r>
          </a:p>
          <a:p xmlns:a="http://schemas.openxmlformats.org/drawingml/2006/main">
            <a:r>
              <a:rPr lang="en-US" sz="1600" b="0">
                <a:solidFill>
                  <a:srgbClr val="A8C8FF"/>
                </a:solidFill>
                <a:latin typeface="Calibri"/>
                <a:ea typeface="Calibri"/>
              </a:rPr>
              <a:t>Multi-language support for</a:t>
            </a:r>
          </a:p>
          <a:p xmlns:a="http://schemas.openxmlformats.org/drawingml/2006/main">
            <a:r>
              <a:rPr lang="en-US" sz="1600" b="0">
                <a:solidFill>
                  <a:srgbClr val="A8C8FF"/>
                </a:solidFill>
                <a:latin typeface="Calibri"/>
                <a:ea typeface="Calibri"/>
              </a:rPr>
              <a:t>global accessibility</a:t>
            </a:r>
          </a:p>
        </p:txBody>
      </p:sp>
      <p:sp>
        <p:nvSpPr>
          <p:cNvPr id="100132" name="RepoFooter"/>
          <p:cNvSpPr txBox="1"/>
          <p:nvPr/>
        </p:nvSpPr>
        <p:spPr>
          <a:xfrm xmlns:a="http://schemas.openxmlformats.org/drawingml/2006/main">
            <a:off x="720000" y="5400000"/>
            <a:ext cx="10440000" cy="360000"/>
          </a:xfrm>
          <a:prstGeom xmlns:a="http://schemas.openxmlformats.org/drawingml/2006/main" prst="rect">
            <a:avLst/>
          </a:prstGeom>
          <a:noFill xmlns:a="http://schemas.openxmlformats.org/drawingml/2006/main"/>
        </p:spPr>
        <p:txBody>
          <a:bodyPr xmlns:a="http://schemas.openxmlformats.org/drawingml/2006/main"/>
          <a:lstStyle xmlns:a="http://schemas.openxmlformats.org/drawingml/2006/main"/>
          <a:p xmlns:a="http://schemas.openxmlformats.org/drawingml/2006/main">
            <a:r>
              <a:rPr lang="en-US" sz="1600" b="0">
                <a:solidFill>
                  <a:srgbClr val="2ECC71"/>
                </a:solidFill>
                <a:latin typeface="Calibri"/>
                <a:ea typeface="Calibri"/>
              </a:rPr>
              <a:t>github.com/diyabhikadiya7/-Nutrition-Agentic-AI-Application   |   Powered by IBM Granite via watsonx.ai</a:t>
            </a:r>
          </a:p>
        </p:txBody>
      </p:sp>
      <p:sp>
        <p:nvSpPr>
          <p:cNvPr id="100133" name="BottomBar"/>
          <p:cNvSpPr txBox="1"/>
          <p:nvPr/>
        </p:nvSpPr>
        <p:spPr>
          <a:xfrm xmlns:a="http://schemas.openxmlformats.org/drawingml/2006/main">
            <a:off x="0" y="6624000"/>
            <a:ext cx="12193200" cy="216000"/>
          </a:xfrm>
          <a:prstGeom xmlns:a="http://schemas.openxmlformats.org/drawingml/2006/main" prst="rect">
            <a:avLst/>
          </a:prstGeom>
          <a:solidFill xmlns:a="http://schemas.openxmlformats.org/drawingml/2006/main">
            <a:srgbClr val="1A2E4A"/>
          </a:solidFill>
        </p:spPr>
        <p:txBody>
          <a:bodyPr xmlns:a="http://schemas.openxmlformats.org/drawingml/2006/main"/>
          <a:lstStyle xmlns:a="http://schemas.openxmlformats.org/drawingml/2006/main"/>
          <a:p xmlns:a="http://schemas.openxmlformats.org/drawingml/2006/main">
            <a:endParaRPr lang="en-US">
              <a:solidFill>
                <a:srgbClr val="1A2E4A"/>
              </a:solidFill>
            </a:endParaR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solidFill>
          <a:schemeClr val="phClr"/>
        </a:solidFill>
        <a:solidFill>
          <a:schemeClr val="phClr"/>
        </a:solidFill>
      </a:fillStyleLst>
      <a:lnStyleLst>
        <a:ln w="6350" cap="flat">
          <a:solidFill>
            <a:schemeClr val="phClr"/>
          </a:solidFill>
        </a:ln>
        <a:ln w="12700" cap="flat">
          <a:solidFill>
            <a:schemeClr val="phClr"/>
          </a:solidFill>
        </a:ln>
        <a:ln w="19050" cap="flat">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ap:Properties xmlns:ap="http://schemas.openxmlformats.org/officeDocument/2006/extended-properties">
  <ap:Application>OfficeCLI/1.0.144</ap:Application>
</ap:Properties>
</file>

<file path=docProps/core.xml><?xml version="1.0" encoding="utf-8"?>
<cp:coreProperties xmlns:cp="http://schemas.openxmlformats.org/package/2006/metadata/core-properties" xmlns:dc="http://purl.org/dc/elements/1.1/" xmlns:dcterms="http://purl.org/dc/terms/" xmlns:xsi="http://www.w3.org/2001/XMLSchema-instance">
  <dc:creator>OfficeCLI</dc:creator>
  <dcterms:created xsi:type="dcterms:W3CDTF">2026-10-13T09:10:19Z</dcterms:created>
  <cp:lastModifiedBy>OfficeCLI</cp:lastModifiedBy>
  <dcterms:modified xsi:type="dcterms:W3CDTF">2026-10-13T09:10:19Z</dcterms:modified>
</cp:coreProperties>
</file>

<file path=docProps/custom.xml><?xml version="1.0" encoding="utf-8"?>
<op:Properties xmlns:op="http://schemas.openxmlformats.org/officeDocument/2006/custom-properties">
  <op:property fmtid="{D5CDD505-2E9C-101B-9397-08002B2CF9AE}" pid="2" name="OfficeCLI.Version">
    <vt:lpwstr xmlns:vt="http://schemas.openxmlformats.org/officeDocument/2006/docPropsVTypes">1.0.157</vt:lpwstr>
  </op:property>
  <op:property fmtid="{D5CDD505-2E9C-101B-9397-08002B2CF9AE}" pid="3" name="OfficeCLI.LastModified">
    <vt:lpwstr xmlns:vt="http://schemas.openxmlformats.org/officeDocument/2006/docPropsVTypes">2026-10-13T09:16:01Z</vt:lpwstr>
  </op:property>
</op:Properties>
</file>